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chivo Black" charset="1" panose="020B0A03020202020B04"/>
      <p:regular r:id="rId25"/>
    </p:embeddedFont>
    <p:embeddedFont>
      <p:font typeface="Playfair Display Bold Italics" charset="1" panose="00000000000000000000"/>
      <p:regular r:id="rId26"/>
    </p:embeddedFont>
    <p:embeddedFont>
      <p:font typeface="Open Sans" charset="1" panose="020B0606030504020204"/>
      <p:regular r:id="rId27"/>
    </p:embeddedFont>
    <p:embeddedFont>
      <p:font typeface="Open Sans Italics" charset="1" panose="020B0606030504020204"/>
      <p:regular r:id="rId28"/>
    </p:embeddedFont>
    <p:embeddedFont>
      <p:font typeface="Fineday One" charset="1" panose="00000500000000000000"/>
      <p:regular r:id="rId29"/>
    </p:embeddedFont>
    <p:embeddedFont>
      <p:font typeface="ITC Motter Corpus Semicondensed" charset="1" panose="04020A05040802020202"/>
      <p:regular r:id="rId30"/>
    </p:embeddedFont>
    <p:embeddedFont>
      <p:font typeface="Archivo Narrow" charset="1" panose="020B0506020202020B04"/>
      <p:regular r:id="rId31"/>
    </p:embeddedFont>
    <p:embeddedFont>
      <p:font typeface="Open Sans Bold" charset="1" panose="020B0806030504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2115800" y="3086100"/>
            <a:ext cx="8229600" cy="4114800"/>
            <a:chOff x="0" y="0"/>
            <a:chExt cx="660400" cy="330200"/>
          </a:xfrm>
        </p:grpSpPr>
        <p:sp>
          <p:nvSpPr>
            <p:cNvPr name="Freeform 6" id="6"/>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7" id="7"/>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5400000">
            <a:off x="624294" y="1433106"/>
            <a:ext cx="1649977" cy="8411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144000" y="309271"/>
            <a:ext cx="3805243" cy="380524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
        <p:nvSpPr>
          <p:cNvPr name="TextBox 13" id="13"/>
          <p:cNvSpPr txBox="true"/>
          <p:nvPr/>
        </p:nvSpPr>
        <p:spPr>
          <a:xfrm rot="0">
            <a:off x="1028700" y="3470134"/>
            <a:ext cx="12089386" cy="2967608"/>
          </a:xfrm>
          <a:prstGeom prst="rect">
            <a:avLst/>
          </a:prstGeom>
        </p:spPr>
        <p:txBody>
          <a:bodyPr anchor="t" rtlCol="false" tIns="0" lIns="0" bIns="0" rIns="0">
            <a:spAutoFit/>
          </a:bodyPr>
          <a:lstStyle/>
          <a:p>
            <a:pPr algn="l">
              <a:lnSpc>
                <a:spcPts val="11252"/>
              </a:lnSpc>
            </a:pPr>
            <a:r>
              <a:rPr lang="en-US" sz="12099">
                <a:solidFill>
                  <a:srgbClr val="452829"/>
                </a:solidFill>
                <a:latin typeface="Archivo Black"/>
                <a:ea typeface="Archivo Black"/>
                <a:cs typeface="Archivo Black"/>
                <a:sym typeface="Archivo Black"/>
              </a:rPr>
              <a:t>Project</a:t>
            </a:r>
          </a:p>
          <a:p>
            <a:pPr algn="l">
              <a:lnSpc>
                <a:spcPts val="11252"/>
              </a:lnSpc>
            </a:pPr>
            <a:r>
              <a:rPr lang="en-US" sz="12099">
                <a:solidFill>
                  <a:srgbClr val="452829"/>
                </a:solidFill>
                <a:latin typeface="Archivo Black"/>
                <a:ea typeface="Archivo Black"/>
                <a:cs typeface="Archivo Black"/>
                <a:sym typeface="Archivo Black"/>
              </a:rPr>
              <a:t>Introduction</a:t>
            </a:r>
          </a:p>
        </p:txBody>
      </p:sp>
      <p:sp>
        <p:nvSpPr>
          <p:cNvPr name="TextBox 14" id="14"/>
          <p:cNvSpPr txBox="true"/>
          <p:nvPr/>
        </p:nvSpPr>
        <p:spPr>
          <a:xfrm rot="0">
            <a:off x="1028700" y="7142592"/>
            <a:ext cx="13929348" cy="1604010"/>
          </a:xfrm>
          <a:prstGeom prst="rect">
            <a:avLst/>
          </a:prstGeom>
        </p:spPr>
        <p:txBody>
          <a:bodyPr anchor="t" rtlCol="false" tIns="0" lIns="0" bIns="0" rIns="0">
            <a:spAutoFit/>
          </a:bodyPr>
          <a:lstStyle/>
          <a:p>
            <a:pPr algn="l">
              <a:lnSpc>
                <a:spcPts val="12120"/>
              </a:lnSpc>
            </a:pPr>
            <a:r>
              <a:rPr lang="en-US" b="true" sz="12000" i="true">
                <a:solidFill>
                  <a:srgbClr val="5170FF"/>
                </a:solidFill>
                <a:latin typeface="Playfair Display Bold Italics"/>
                <a:ea typeface="Playfair Display Bold Italics"/>
                <a:cs typeface="Playfair Display Bold Italics"/>
                <a:sym typeface="Playfair Display Bold Italics"/>
              </a:rPr>
              <a:t>FOUR DIRECTION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13304374" y="-942977"/>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125102" y="1779587"/>
            <a:ext cx="12318433"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Problem Statement </a:t>
            </a:r>
          </a:p>
        </p:txBody>
      </p:sp>
      <p:grpSp>
        <p:nvGrpSpPr>
          <p:cNvPr name="Group 6" id="6"/>
          <p:cNvGrpSpPr/>
          <p:nvPr/>
        </p:nvGrpSpPr>
        <p:grpSpPr>
          <a:xfrm rot="5400000">
            <a:off x="-2057400" y="3086100"/>
            <a:ext cx="8229600" cy="4114800"/>
            <a:chOff x="0" y="0"/>
            <a:chExt cx="660400" cy="330200"/>
          </a:xfrm>
        </p:grpSpPr>
        <p:sp>
          <p:nvSpPr>
            <p:cNvPr name="Freeform 7" id="7"/>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8" id="8"/>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5400000">
            <a:off x="16013729" y="8012729"/>
            <a:ext cx="1649977" cy="841165"/>
            <a:chOff x="0" y="0"/>
            <a:chExt cx="647700" cy="330200"/>
          </a:xfrm>
        </p:grpSpPr>
        <p:sp>
          <p:nvSpPr>
            <p:cNvPr name="Freeform 10" id="10"/>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11" id="11"/>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4379239" y="3425191"/>
            <a:ext cx="12064296" cy="5327140"/>
          </a:xfrm>
          <a:prstGeom prst="rect">
            <a:avLst/>
          </a:prstGeom>
        </p:spPr>
        <p:txBody>
          <a:bodyPr anchor="t" rtlCol="false" tIns="0" lIns="0" bIns="0" rIns="0">
            <a:spAutoFit/>
          </a:bodyPr>
          <a:lstStyle/>
          <a:p>
            <a:pPr algn="just">
              <a:lnSpc>
                <a:spcPts val="6144"/>
              </a:lnSpc>
            </a:pPr>
            <a:r>
              <a:rPr lang="en-US" sz="3200">
                <a:solidFill>
                  <a:srgbClr val="452829"/>
                </a:solidFill>
                <a:latin typeface="Open Sans"/>
                <a:ea typeface="Open Sans"/>
                <a:cs typeface="Open Sans"/>
                <a:sym typeface="Open Sans"/>
              </a:rPr>
              <a:t>Most t</a:t>
            </a:r>
            <a:r>
              <a:rPr lang="en-US" sz="3200">
                <a:solidFill>
                  <a:srgbClr val="452829"/>
                </a:solidFill>
                <a:latin typeface="Open Sans"/>
                <a:ea typeface="Open Sans"/>
                <a:cs typeface="Open Sans"/>
                <a:sym typeface="Open Sans"/>
              </a:rPr>
              <a:t>ravel apps only handle one piece of this with either bookings, or budgeting, or itineraries. So travellers end up manually piecing it all together themselves. Group trips make it worse, since getting everyone's schedules, budgets, and preferences to line up is genuinely difficult. And when something changes mid-trip, there's rarely any real help from existing platforms in adjusting.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10800000">
            <a:off x="-4114800" y="0"/>
            <a:ext cx="8229600" cy="4114800"/>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16013729" y="8012729"/>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043238" y="7760723"/>
            <a:ext cx="6086477" cy="60864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928314" y="3804108"/>
            <a:ext cx="4674251" cy="4674251"/>
          </a:xfrm>
          <a:custGeom>
            <a:avLst/>
            <a:gdLst/>
            <a:ahLst/>
            <a:cxnLst/>
            <a:rect r="r" b="b" t="t" l="l"/>
            <a:pathLst>
              <a:path h="4674251" w="4674251">
                <a:moveTo>
                  <a:pt x="0" y="0"/>
                </a:moveTo>
                <a:lnTo>
                  <a:pt x="4674252" y="0"/>
                </a:lnTo>
                <a:lnTo>
                  <a:pt x="4674252" y="4674251"/>
                </a:lnTo>
                <a:lnTo>
                  <a:pt x="0" y="46742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7141372" y="1123950"/>
            <a:ext cx="10117928" cy="970915"/>
          </a:xfrm>
          <a:prstGeom prst="rect">
            <a:avLst/>
          </a:prstGeom>
        </p:spPr>
        <p:txBody>
          <a:bodyPr anchor="t" rtlCol="false" tIns="0" lIns="0" bIns="0" rIns="0">
            <a:spAutoFit/>
          </a:bodyPr>
          <a:lstStyle/>
          <a:p>
            <a:pPr algn="just">
              <a:lnSpc>
                <a:spcPts val="7279"/>
              </a:lnSpc>
            </a:pPr>
            <a:r>
              <a:rPr lang="en-US" sz="6999">
                <a:solidFill>
                  <a:srgbClr val="452829"/>
                </a:solidFill>
                <a:latin typeface="Archivo Black"/>
                <a:ea typeface="Archivo Black"/>
                <a:cs typeface="Archivo Black"/>
                <a:sym typeface="Archivo Black"/>
              </a:rPr>
              <a:t>Target users</a:t>
            </a:r>
          </a:p>
        </p:txBody>
      </p:sp>
      <p:sp>
        <p:nvSpPr>
          <p:cNvPr name="TextBox 13" id="13"/>
          <p:cNvSpPr txBox="true"/>
          <p:nvPr/>
        </p:nvSpPr>
        <p:spPr>
          <a:xfrm rot="0">
            <a:off x="7141372" y="5893583"/>
            <a:ext cx="8992180" cy="3423666"/>
          </a:xfrm>
          <a:prstGeom prst="rect">
            <a:avLst/>
          </a:prstGeom>
        </p:spPr>
        <p:txBody>
          <a:bodyPr anchor="t" rtlCol="false" tIns="0" lIns="0" bIns="0" rIns="0">
            <a:spAutoFit/>
          </a:bodyPr>
          <a:lstStyle/>
          <a:p>
            <a:pPr algn="l">
              <a:lnSpc>
                <a:spcPts val="6912"/>
              </a:lnSpc>
            </a:pPr>
            <a:r>
              <a:rPr lang="en-US" sz="3600" i="true">
                <a:solidFill>
                  <a:srgbClr val="452829"/>
                </a:solidFill>
                <a:latin typeface="Open Sans Italics"/>
                <a:ea typeface="Open Sans Italics"/>
                <a:cs typeface="Open Sans Italics"/>
                <a:sym typeface="Open Sans Italics"/>
              </a:rPr>
              <a:t>Our main principle on this project is to get all traveler to use our app to plan:</a:t>
            </a:r>
          </a:p>
          <a:p>
            <a:pPr algn="l" marL="777240" indent="-388620" lvl="1">
              <a:lnSpc>
                <a:spcPts val="6912"/>
              </a:lnSpc>
              <a:buAutoNum type="arabicPeriod" startAt="1"/>
            </a:pPr>
            <a:r>
              <a:rPr lang="en-US" sz="3600" i="true">
                <a:solidFill>
                  <a:srgbClr val="452829"/>
                </a:solidFill>
                <a:latin typeface="Open Sans Italics"/>
                <a:ea typeface="Open Sans Italics"/>
                <a:cs typeface="Open Sans Italics"/>
                <a:sym typeface="Open Sans Italics"/>
              </a:rPr>
              <a:t>rich traveler</a:t>
            </a:r>
          </a:p>
          <a:p>
            <a:pPr algn="l" marL="777240" indent="-388620" lvl="1">
              <a:lnSpc>
                <a:spcPts val="6912"/>
              </a:lnSpc>
              <a:buAutoNum type="arabicPeriod" startAt="1"/>
            </a:pPr>
            <a:r>
              <a:rPr lang="en-US" sz="3600" i="true">
                <a:solidFill>
                  <a:srgbClr val="452829"/>
                </a:solidFill>
                <a:latin typeface="Open Sans Italics"/>
                <a:ea typeface="Open Sans Italics"/>
                <a:cs typeface="Open Sans Italics"/>
                <a:sym typeface="Open Sans Italics"/>
              </a:rPr>
              <a:t>budget traveler</a:t>
            </a:r>
          </a:p>
        </p:txBody>
      </p:sp>
      <p:sp>
        <p:nvSpPr>
          <p:cNvPr name="TextBox 14" id="14"/>
          <p:cNvSpPr txBox="true"/>
          <p:nvPr/>
        </p:nvSpPr>
        <p:spPr>
          <a:xfrm rot="0">
            <a:off x="5014535" y="3755379"/>
            <a:ext cx="13273465" cy="1515915"/>
          </a:xfrm>
          <a:prstGeom prst="rect">
            <a:avLst/>
          </a:prstGeom>
        </p:spPr>
        <p:txBody>
          <a:bodyPr anchor="t" rtlCol="false" tIns="0" lIns="0" bIns="0" rIns="0">
            <a:spAutoFit/>
          </a:bodyPr>
          <a:lstStyle/>
          <a:p>
            <a:pPr algn="ctr">
              <a:lnSpc>
                <a:spcPts val="9852"/>
              </a:lnSpc>
            </a:pPr>
            <a:r>
              <a:rPr lang="en-US" sz="15156">
                <a:solidFill>
                  <a:srgbClr val="1800AD"/>
                </a:solidFill>
                <a:latin typeface="Fineday One"/>
                <a:ea typeface="Fineday One"/>
                <a:cs typeface="Fineday One"/>
                <a:sym typeface="Fineday One"/>
              </a:rPr>
              <a:t>Traveler</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778550" y="-942977"/>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620141" y="1119123"/>
            <a:ext cx="14909186"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Pricing: Freemium model</a:t>
            </a:r>
          </a:p>
        </p:txBody>
      </p:sp>
      <p:grpSp>
        <p:nvGrpSpPr>
          <p:cNvPr name="Group 6" id="6"/>
          <p:cNvGrpSpPr/>
          <p:nvPr/>
        </p:nvGrpSpPr>
        <p:grpSpPr>
          <a:xfrm rot="5400000">
            <a:off x="624294" y="8012729"/>
            <a:ext cx="1649977" cy="841165"/>
            <a:chOff x="0" y="0"/>
            <a:chExt cx="647700" cy="330200"/>
          </a:xfrm>
        </p:grpSpPr>
        <p:sp>
          <p:nvSpPr>
            <p:cNvPr name="Freeform 7" id="7"/>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8" id="8"/>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12115800" y="3086100"/>
            <a:ext cx="8229600" cy="4114800"/>
            <a:chOff x="0" y="0"/>
            <a:chExt cx="660400" cy="330200"/>
          </a:xfrm>
        </p:grpSpPr>
        <p:sp>
          <p:nvSpPr>
            <p:cNvPr name="Freeform 10" id="10"/>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11" id="11"/>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620141" y="2696224"/>
            <a:ext cx="8890038" cy="3385466"/>
            <a:chOff x="0" y="0"/>
            <a:chExt cx="11853384" cy="4513955"/>
          </a:xfrm>
        </p:grpSpPr>
        <p:sp>
          <p:nvSpPr>
            <p:cNvPr name="TextBox 13" id="13"/>
            <p:cNvSpPr txBox="true"/>
            <p:nvPr/>
          </p:nvSpPr>
          <p:spPr>
            <a:xfrm rot="0">
              <a:off x="0" y="2119119"/>
              <a:ext cx="11853384" cy="2394836"/>
            </a:xfrm>
            <a:prstGeom prst="rect">
              <a:avLst/>
            </a:prstGeom>
          </p:spPr>
          <p:txBody>
            <a:bodyPr anchor="t" rtlCol="false" tIns="0" lIns="0" bIns="0" rIns="0">
              <a:spAutoFit/>
            </a:bodyPr>
            <a:lstStyle/>
            <a:p>
              <a:pPr algn="ctr">
                <a:lnSpc>
                  <a:spcPts val="11838"/>
                </a:lnSpc>
              </a:pPr>
            </a:p>
          </p:txBody>
        </p:sp>
        <p:sp>
          <p:nvSpPr>
            <p:cNvPr name="TextBox 14" id="14"/>
            <p:cNvSpPr txBox="true"/>
            <p:nvPr/>
          </p:nvSpPr>
          <p:spPr>
            <a:xfrm rot="0">
              <a:off x="0" y="0"/>
              <a:ext cx="11853384" cy="4238287"/>
            </a:xfrm>
            <a:prstGeom prst="rect">
              <a:avLst/>
            </a:prstGeom>
          </p:spPr>
          <p:txBody>
            <a:bodyPr anchor="t" rtlCol="false" tIns="0" lIns="0" bIns="0" rIns="0">
              <a:spAutoFit/>
            </a:bodyPr>
            <a:lstStyle/>
            <a:p>
              <a:pPr algn="ctr" marL="0" indent="0" lvl="0">
                <a:lnSpc>
                  <a:spcPts val="20896"/>
                </a:lnSpc>
                <a:spcBef>
                  <a:spcPct val="0"/>
                </a:spcBef>
              </a:pPr>
              <a:r>
                <a:rPr lang="en-US" b="true" sz="20896" spc="1044" strike="noStrike" u="none">
                  <a:solidFill>
                    <a:srgbClr val="E60124"/>
                  </a:solidFill>
                  <a:latin typeface="ITC Motter Corpus Semicondensed"/>
                  <a:ea typeface="ITC Motter Corpus Semicondensed"/>
                  <a:cs typeface="ITC Motter Corpus Semicondensed"/>
                  <a:sym typeface="ITC Motter Corpus Semicondensed"/>
                </a:rPr>
                <a:t>FREE</a:t>
              </a:r>
            </a:p>
          </p:txBody>
        </p:sp>
      </p:grpSp>
      <p:sp>
        <p:nvSpPr>
          <p:cNvPr name="TextBox 15" id="15"/>
          <p:cNvSpPr txBox="true"/>
          <p:nvPr/>
        </p:nvSpPr>
        <p:spPr>
          <a:xfrm rot="0">
            <a:off x="9321279" y="4619625"/>
            <a:ext cx="3395901" cy="523875"/>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Archivo Black"/>
                <a:ea typeface="Archivo Black"/>
                <a:cs typeface="Archivo Black"/>
                <a:sym typeface="Archivo Black"/>
              </a:rPr>
              <a:t>To download......</a:t>
            </a:r>
          </a:p>
        </p:txBody>
      </p:sp>
      <p:sp>
        <p:nvSpPr>
          <p:cNvPr name="TextBox 16" id="16"/>
          <p:cNvSpPr txBox="true"/>
          <p:nvPr/>
        </p:nvSpPr>
        <p:spPr>
          <a:xfrm rot="0">
            <a:off x="6032659" y="5395130"/>
            <a:ext cx="11226641" cy="1792523"/>
          </a:xfrm>
          <a:prstGeom prst="rect">
            <a:avLst/>
          </a:prstGeom>
        </p:spPr>
        <p:txBody>
          <a:bodyPr anchor="t" rtlCol="false" tIns="0" lIns="0" bIns="0" rIns="0">
            <a:spAutoFit/>
          </a:bodyPr>
          <a:lstStyle/>
          <a:p>
            <a:pPr algn="ctr">
              <a:lnSpc>
                <a:spcPts val="14599"/>
              </a:lnSpc>
              <a:spcBef>
                <a:spcPct val="0"/>
              </a:spcBef>
            </a:pPr>
            <a:r>
              <a:rPr lang="en-US" sz="10428">
                <a:solidFill>
                  <a:srgbClr val="E60124"/>
                </a:solidFill>
                <a:latin typeface="Archivo Narrow"/>
                <a:ea typeface="Archivo Narrow"/>
                <a:cs typeface="Archivo Narrow"/>
                <a:sym typeface="Archivo Narrow"/>
              </a:rPr>
              <a:t>Pay for premium usage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370304" y="474902"/>
          <a:ext cx="15547391" cy="9337196"/>
        </p:xfrm>
        <a:graphic>
          <a:graphicData uri="http://schemas.openxmlformats.org/drawingml/2006/table">
            <a:tbl>
              <a:tblPr/>
              <a:tblGrid>
                <a:gridCol w="5099460"/>
                <a:gridCol w="5099460"/>
                <a:gridCol w="5348471"/>
              </a:tblGrid>
              <a:tr h="1169883">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Feature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Free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b="true">
                          <a:solidFill>
                            <a:srgbClr val="000000"/>
                          </a:solidFill>
                          <a:latin typeface="Open Sans Bold"/>
                          <a:ea typeface="Open Sans Bold"/>
                          <a:cs typeface="Open Sans Bold"/>
                          <a:sym typeface="Open Sans Bold"/>
                        </a:rPr>
                        <a:t>Pro (RM200/year)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2952">
                <a:tc>
                  <a:txBody>
                    <a:bodyPr anchor="t" rtlCol="false"/>
                    <a:lstStyle/>
                    <a:p>
                      <a:pPr algn="ctr">
                        <a:lnSpc>
                          <a:spcPts val="2659"/>
                        </a:lnSpc>
                        <a:defRPr/>
                      </a:pPr>
                      <a:r>
                        <a:rPr lang="en-US" sz="1899">
                          <a:solidFill>
                            <a:srgbClr val="000000"/>
                          </a:solidFill>
                          <a:latin typeface="Open Sans"/>
                          <a:ea typeface="Open Sans"/>
                          <a:cs typeface="Open Sans"/>
                          <a:sym typeface="Open Sans"/>
                        </a:rPr>
                        <a:t>Offline Access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Wi-Fi / Data required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Full offline maps &amp; itinerary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705624">
                <a:tc>
                  <a:txBody>
                    <a:bodyPr anchor="t" rtlCol="false"/>
                    <a:lstStyle/>
                    <a:p>
                      <a:pPr algn="ctr">
                        <a:lnSpc>
                          <a:spcPts val="2659"/>
                        </a:lnSpc>
                        <a:defRPr/>
                      </a:pPr>
                      <a:r>
                        <a:rPr lang="en-US" sz="1899">
                          <a:solidFill>
                            <a:srgbClr val="000000"/>
                          </a:solidFill>
                          <a:latin typeface="Open Sans"/>
                          <a:ea typeface="Open Sans"/>
                          <a:cs typeface="Open Sans"/>
                          <a:sym typeface="Open Sans"/>
                        </a:rPr>
                        <a:t>Route Optimization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Manual sorting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1-click auto-optimizes best route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2952">
                <a:tc>
                  <a:txBody>
                    <a:bodyPr anchor="t" rtlCol="false"/>
                    <a:lstStyle/>
                    <a:p>
                      <a:pPr algn="ctr">
                        <a:lnSpc>
                          <a:spcPts val="2659"/>
                        </a:lnSpc>
                        <a:defRPr/>
                      </a:pPr>
                      <a:r>
                        <a:rPr lang="en-US" sz="1899">
                          <a:solidFill>
                            <a:srgbClr val="000000"/>
                          </a:solidFill>
                          <a:latin typeface="Open Sans"/>
                          <a:ea typeface="Open Sans"/>
                          <a:cs typeface="Open Sans"/>
                          <a:sym typeface="Open Sans"/>
                        </a:rPr>
                        <a:t>Booking Sync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Manual email forward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Auto-syncs from Gmail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2952">
                <a:tc>
                  <a:txBody>
                    <a:bodyPr anchor="t" rtlCol="false"/>
                    <a:lstStyle/>
                    <a:p>
                      <a:pPr algn="ctr">
                        <a:lnSpc>
                          <a:spcPts val="2659"/>
                        </a:lnSpc>
                        <a:defRPr/>
                      </a:pPr>
                      <a:r>
                        <a:rPr lang="en-US" sz="1899">
                          <a:solidFill>
                            <a:srgbClr val="000000"/>
                          </a:solidFill>
                          <a:latin typeface="Open Sans"/>
                          <a:ea typeface="Open Sans"/>
                          <a:cs typeface="Open Sans"/>
                          <a:sym typeface="Open Sans"/>
                        </a:rPr>
                        <a:t>Map Export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None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Export to Google Maps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2952">
                <a:tc>
                  <a:txBody>
                    <a:bodyPr anchor="t" rtlCol="false"/>
                    <a:lstStyle/>
                    <a:p>
                      <a:pPr algn="ctr">
                        <a:lnSpc>
                          <a:spcPts val="2659"/>
                        </a:lnSpc>
                        <a:defRPr/>
                      </a:pPr>
                      <a:r>
                        <a:rPr lang="en-US" sz="1899">
                          <a:solidFill>
                            <a:srgbClr val="000000"/>
                          </a:solidFill>
                          <a:latin typeface="Open Sans"/>
                          <a:ea typeface="Open Sans"/>
                          <a:cs typeface="Open Sans"/>
                          <a:sym typeface="Open Sans"/>
                        </a:rPr>
                        <a:t>Experience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Has upgrade prompts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Ad-free &amp; priority support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69883">
                <a:tc>
                  <a:txBody>
                    <a:bodyPr anchor="t" rtlCol="false"/>
                    <a:lstStyle/>
                    <a:p>
                      <a:pPr algn="ctr">
                        <a:lnSpc>
                          <a:spcPts val="2659"/>
                        </a:lnSpc>
                        <a:defRPr/>
                      </a:pPr>
                      <a:r>
                        <a:rPr lang="en-US" sz="1899">
                          <a:solidFill>
                            <a:srgbClr val="000000"/>
                          </a:solidFill>
                          <a:latin typeface="Open Sans"/>
                          <a:ea typeface="Open Sans"/>
                          <a:cs typeface="Open Sans"/>
                          <a:sym typeface="Open Sans"/>
                        </a:rPr>
                        <a:t>AI Assistant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Basic AI suggestions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659"/>
                        </a:lnSpc>
                        <a:defRPr/>
                      </a:pPr>
                      <a:r>
                        <a:rPr lang="en-US" sz="1899">
                          <a:solidFill>
                            <a:srgbClr val="000000"/>
                          </a:solidFill>
                          <a:latin typeface="Open Sans"/>
                          <a:ea typeface="Open Sans"/>
                          <a:cs typeface="Open Sans"/>
                          <a:sym typeface="Open Sans"/>
                        </a:rPr>
                        <a:t>Unlimited AI trip generation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5400000">
            <a:off x="-2057400" y="3086100"/>
            <a:ext cx="8229600" cy="4114800"/>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alpha val="14902"/>
              </a:srgbClr>
            </a:solidFill>
            <a:ln cap="sq">
              <a:noFill/>
              <a:prstDash val="solid"/>
              <a:miter/>
            </a:ln>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885825"/>
            <a:ext cx="10536127"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Problem encountered</a:t>
            </a:r>
          </a:p>
        </p:txBody>
      </p:sp>
      <p:grpSp>
        <p:nvGrpSpPr>
          <p:cNvPr name="Group 6" id="6"/>
          <p:cNvGrpSpPr/>
          <p:nvPr/>
        </p:nvGrpSpPr>
        <p:grpSpPr>
          <a:xfrm rot="0">
            <a:off x="13456774" y="-790577"/>
            <a:ext cx="6086477" cy="60864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16095607" y="8165129"/>
            <a:ext cx="1649977" cy="841165"/>
            <a:chOff x="0" y="0"/>
            <a:chExt cx="647700" cy="330200"/>
          </a:xfrm>
        </p:grpSpPr>
        <p:sp>
          <p:nvSpPr>
            <p:cNvPr name="Freeform 10" id="10"/>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11" id="11"/>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2247334"/>
            <a:ext cx="12211395" cy="2959228"/>
          </a:xfrm>
          <a:prstGeom prst="rect">
            <a:avLst/>
          </a:prstGeom>
        </p:spPr>
        <p:txBody>
          <a:bodyPr anchor="t" rtlCol="false" tIns="0" lIns="0" bIns="0" rIns="0">
            <a:spAutoFit/>
          </a:bodyPr>
          <a:lstStyle/>
          <a:p>
            <a:pPr algn="just">
              <a:lnSpc>
                <a:spcPts val="8063"/>
              </a:lnSpc>
            </a:pPr>
            <a:r>
              <a:rPr lang="en-US" sz="4199">
                <a:solidFill>
                  <a:srgbClr val="452829"/>
                </a:solidFill>
                <a:latin typeface="Open Sans"/>
                <a:ea typeface="Open Sans"/>
                <a:cs typeface="Open Sans"/>
                <a:sym typeface="Open Sans"/>
              </a:rPr>
              <a:t>Making an all in one service will be quite impossible, because there will be a few problem that we must address: </a:t>
            </a:r>
          </a:p>
        </p:txBody>
      </p:sp>
      <p:sp>
        <p:nvSpPr>
          <p:cNvPr name="TextBox 13" id="13"/>
          <p:cNvSpPr txBox="true"/>
          <p:nvPr/>
        </p:nvSpPr>
        <p:spPr>
          <a:xfrm rot="0">
            <a:off x="1028700" y="6138235"/>
            <a:ext cx="9564314" cy="2959227"/>
          </a:xfrm>
          <a:prstGeom prst="rect">
            <a:avLst/>
          </a:prstGeom>
        </p:spPr>
        <p:txBody>
          <a:bodyPr anchor="t" rtlCol="false" tIns="0" lIns="0" bIns="0" rIns="0">
            <a:spAutoFit/>
          </a:bodyPr>
          <a:lstStyle/>
          <a:p>
            <a:pPr algn="just" marL="906780" indent="-453390" lvl="1">
              <a:lnSpc>
                <a:spcPts val="8064"/>
              </a:lnSpc>
              <a:buFont typeface="Arial"/>
              <a:buChar char="•"/>
            </a:pPr>
            <a:r>
              <a:rPr lang="en-US" sz="4200">
                <a:solidFill>
                  <a:srgbClr val="452829"/>
                </a:solidFill>
                <a:latin typeface="Open Sans"/>
                <a:ea typeface="Open Sans"/>
                <a:cs typeface="Open Sans"/>
                <a:sym typeface="Open Sans"/>
              </a:rPr>
              <a:t>Cost will be high </a:t>
            </a:r>
          </a:p>
          <a:p>
            <a:pPr algn="just" marL="906780" indent="-453390" lvl="1">
              <a:lnSpc>
                <a:spcPts val="8064"/>
              </a:lnSpc>
              <a:buFont typeface="Arial"/>
              <a:buChar char="•"/>
            </a:pPr>
            <a:r>
              <a:rPr lang="en-US" sz="4200">
                <a:solidFill>
                  <a:srgbClr val="452829"/>
                </a:solidFill>
                <a:latin typeface="Open Sans"/>
                <a:ea typeface="Open Sans"/>
                <a:cs typeface="Open Sans"/>
                <a:sym typeface="Open Sans"/>
              </a:rPr>
              <a:t>Not enough time </a:t>
            </a:r>
          </a:p>
          <a:p>
            <a:pPr algn="just" marL="906780" indent="-453390" lvl="1">
              <a:lnSpc>
                <a:spcPts val="8064"/>
              </a:lnSpc>
              <a:buFont typeface="Arial"/>
              <a:buChar char="•"/>
            </a:pPr>
            <a:r>
              <a:rPr lang="en-US" sz="4200">
                <a:solidFill>
                  <a:srgbClr val="452829"/>
                </a:solidFill>
                <a:latin typeface="Open Sans"/>
                <a:ea typeface="Open Sans"/>
                <a:cs typeface="Open Sans"/>
                <a:sym typeface="Open Sans"/>
              </a:rPr>
              <a:t>Server lagging problem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5400000">
            <a:off x="12115800" y="3097212"/>
            <a:ext cx="8229600" cy="4114800"/>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alpha val="14902"/>
              </a:srgbClr>
            </a:solidFill>
            <a:ln cap="sq">
              <a:noFill/>
              <a:prstDash val="solid"/>
              <a:miter/>
            </a:ln>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2014538" y="-942977"/>
            <a:ext cx="6086477" cy="60864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404406" y="8615317"/>
            <a:ext cx="1649977" cy="841165"/>
            <a:chOff x="0" y="0"/>
            <a:chExt cx="647700" cy="330200"/>
          </a:xfrm>
        </p:grpSpPr>
        <p:sp>
          <p:nvSpPr>
            <p:cNvPr name="Freeform 9" id="9"/>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10" id="10"/>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366711"/>
            <a:ext cx="10324023"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Final Solutions</a:t>
            </a:r>
          </a:p>
        </p:txBody>
      </p:sp>
      <p:sp>
        <p:nvSpPr>
          <p:cNvPr name="TextBox 12" id="12"/>
          <p:cNvSpPr txBox="true"/>
          <p:nvPr/>
        </p:nvSpPr>
        <p:spPr>
          <a:xfrm rot="0">
            <a:off x="1028700" y="6610612"/>
            <a:ext cx="11743348" cy="2821305"/>
          </a:xfrm>
          <a:prstGeom prst="rect">
            <a:avLst/>
          </a:prstGeom>
        </p:spPr>
        <p:txBody>
          <a:bodyPr anchor="t" rtlCol="false" tIns="0" lIns="0" bIns="0" rIns="0">
            <a:spAutoFit/>
          </a:bodyPr>
          <a:lstStyle/>
          <a:p>
            <a:pPr algn="just">
              <a:lnSpc>
                <a:spcPts val="5759"/>
              </a:lnSpc>
            </a:pPr>
            <a:r>
              <a:rPr lang="en-US" sz="3000">
                <a:solidFill>
                  <a:srgbClr val="452829"/>
                </a:solidFill>
                <a:latin typeface="Open Sans"/>
                <a:ea typeface="Open Sans"/>
                <a:cs typeface="Open Sans"/>
                <a:sym typeface="Open Sans"/>
              </a:rPr>
              <a:t>We’ll exclude services such as :</a:t>
            </a:r>
          </a:p>
          <a:p>
            <a:pPr algn="l" marL="647700" indent="-323850" lvl="1">
              <a:lnSpc>
                <a:spcPts val="5759"/>
              </a:lnSpc>
              <a:buFont typeface="Arial"/>
              <a:buChar char="•"/>
            </a:pPr>
            <a:r>
              <a:rPr lang="en-US" sz="3000">
                <a:solidFill>
                  <a:srgbClr val="452829"/>
                </a:solidFill>
                <a:latin typeface="Open Sans"/>
                <a:ea typeface="Open Sans"/>
                <a:cs typeface="Open Sans"/>
                <a:sym typeface="Open Sans"/>
              </a:rPr>
              <a:t>booking hotel</a:t>
            </a:r>
          </a:p>
          <a:p>
            <a:pPr algn="l" marL="647700" indent="-323850" lvl="1">
              <a:lnSpc>
                <a:spcPts val="5759"/>
              </a:lnSpc>
              <a:buFont typeface="Arial"/>
              <a:buChar char="•"/>
            </a:pPr>
            <a:r>
              <a:rPr lang="en-US" sz="3000">
                <a:solidFill>
                  <a:srgbClr val="452829"/>
                </a:solidFill>
                <a:latin typeface="Open Sans"/>
                <a:ea typeface="Open Sans"/>
                <a:cs typeface="Open Sans"/>
                <a:sym typeface="Open Sans"/>
              </a:rPr>
              <a:t>booking flights </a:t>
            </a:r>
          </a:p>
          <a:p>
            <a:pPr algn="l" marL="647700" indent="-323850" lvl="1">
              <a:lnSpc>
                <a:spcPts val="5759"/>
              </a:lnSpc>
              <a:buFont typeface="Arial"/>
              <a:buChar char="•"/>
            </a:pPr>
            <a:r>
              <a:rPr lang="en-US" sz="3000">
                <a:solidFill>
                  <a:srgbClr val="452829"/>
                </a:solidFill>
                <a:latin typeface="Open Sans"/>
                <a:ea typeface="Open Sans"/>
                <a:cs typeface="Open Sans"/>
                <a:sym typeface="Open Sans"/>
              </a:rPr>
              <a:t>booking foods services</a:t>
            </a:r>
          </a:p>
        </p:txBody>
      </p:sp>
      <p:sp>
        <p:nvSpPr>
          <p:cNvPr name="TextBox 13" id="13"/>
          <p:cNvSpPr txBox="true"/>
          <p:nvPr/>
        </p:nvSpPr>
        <p:spPr>
          <a:xfrm rot="0">
            <a:off x="1028700" y="1711714"/>
            <a:ext cx="16230600" cy="4727449"/>
          </a:xfrm>
          <a:prstGeom prst="rect">
            <a:avLst/>
          </a:prstGeom>
        </p:spPr>
        <p:txBody>
          <a:bodyPr anchor="t" rtlCol="false" tIns="0" lIns="0" bIns="0" rIns="0">
            <a:spAutoFit/>
          </a:bodyPr>
          <a:lstStyle/>
          <a:p>
            <a:pPr algn="l">
              <a:lnSpc>
                <a:spcPts val="6335"/>
              </a:lnSpc>
            </a:pPr>
            <a:r>
              <a:rPr lang="en-US" sz="3299" b="true">
                <a:solidFill>
                  <a:srgbClr val="452829"/>
                </a:solidFill>
                <a:latin typeface="Open Sans Bold"/>
                <a:ea typeface="Open Sans Bold"/>
                <a:cs typeface="Open Sans Bold"/>
                <a:sym typeface="Open Sans Bold"/>
              </a:rPr>
              <a:t>A – Integrated Travel</a:t>
            </a:r>
            <a:r>
              <a:rPr lang="en-US" sz="3299" b="true">
                <a:solidFill>
                  <a:srgbClr val="452829"/>
                </a:solidFill>
                <a:latin typeface="Open Sans Bold"/>
                <a:ea typeface="Open Sans Bold"/>
                <a:cs typeface="Open Sans Bold"/>
                <a:sym typeface="Open Sans Bold"/>
              </a:rPr>
              <a:t> Planner</a:t>
            </a:r>
          </a:p>
          <a:p>
            <a:pPr algn="l">
              <a:lnSpc>
                <a:spcPts val="6335"/>
              </a:lnSpc>
            </a:pPr>
            <a:r>
              <a:rPr lang="en-US" sz="3299">
                <a:solidFill>
                  <a:srgbClr val="452829"/>
                </a:solidFill>
                <a:latin typeface="Open Sans"/>
                <a:ea typeface="Open Sans"/>
                <a:cs typeface="Open Sans"/>
                <a:sym typeface="Open Sans"/>
              </a:rPr>
              <a:t>Combines multiple travel-related functions into one platform and directly addresses the problem of switching between different apps.</a:t>
            </a:r>
          </a:p>
          <a:p>
            <a:pPr algn="l">
              <a:lnSpc>
                <a:spcPts val="6335"/>
              </a:lnSpc>
            </a:pPr>
            <a:r>
              <a:rPr lang="en-US" sz="3299" b="true">
                <a:solidFill>
                  <a:srgbClr val="452829"/>
                </a:solidFill>
                <a:latin typeface="Open Sans Bold"/>
                <a:ea typeface="Open Sans Bold"/>
                <a:cs typeface="Open Sans Bold"/>
                <a:sym typeface="Open Sans Bold"/>
              </a:rPr>
              <a:t>B – AI Travel Assistant</a:t>
            </a:r>
          </a:p>
          <a:p>
            <a:pPr algn="l">
              <a:lnSpc>
                <a:spcPts val="6335"/>
              </a:lnSpc>
            </a:pPr>
            <a:r>
              <a:rPr lang="en-US" sz="3299">
                <a:solidFill>
                  <a:srgbClr val="452829"/>
                </a:solidFill>
                <a:latin typeface="Open Sans"/>
                <a:ea typeface="Open Sans"/>
                <a:cs typeface="Open Sans"/>
                <a:sym typeface="Open Sans"/>
              </a:rPr>
              <a:t>Provides personalized travel recommendations and assistance, making trip planning more convenient and efficient.</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6797565" y="3600450"/>
            <a:ext cx="4694704" cy="469470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CFC7"/>
            </a:solidFill>
            <a:ln w="285750" cap="sq">
              <a:solidFill>
                <a:srgbClr val="00000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769411" y="2057400"/>
            <a:ext cx="3658602" cy="3086100"/>
            <a:chOff x="0" y="0"/>
            <a:chExt cx="963583" cy="812800"/>
          </a:xfrm>
        </p:grpSpPr>
        <p:sp>
          <p:nvSpPr>
            <p:cNvPr name="Freeform 6" id="6"/>
            <p:cNvSpPr/>
            <p:nvPr/>
          </p:nvSpPr>
          <p:spPr>
            <a:xfrm flipH="false" flipV="false" rot="0">
              <a:off x="0" y="0"/>
              <a:ext cx="963583" cy="812800"/>
            </a:xfrm>
            <a:custGeom>
              <a:avLst/>
              <a:gdLst/>
              <a:ahLst/>
              <a:cxnLst/>
              <a:rect r="r" b="b" t="t" l="l"/>
              <a:pathLst>
                <a:path h="812800" w="963583">
                  <a:moveTo>
                    <a:pt x="481791" y="0"/>
                  </a:moveTo>
                  <a:cubicBezTo>
                    <a:pt x="215705" y="0"/>
                    <a:pt x="0" y="181951"/>
                    <a:pt x="0" y="406400"/>
                  </a:cubicBezTo>
                  <a:cubicBezTo>
                    <a:pt x="0" y="630849"/>
                    <a:pt x="215705" y="812800"/>
                    <a:pt x="481791" y="812800"/>
                  </a:cubicBezTo>
                  <a:cubicBezTo>
                    <a:pt x="747877" y="812800"/>
                    <a:pt x="963583" y="630849"/>
                    <a:pt x="963583" y="406400"/>
                  </a:cubicBezTo>
                  <a:cubicBezTo>
                    <a:pt x="963583" y="181951"/>
                    <a:pt x="747877" y="0"/>
                    <a:pt x="481791" y="0"/>
                  </a:cubicBezTo>
                  <a:close/>
                </a:path>
              </a:pathLst>
            </a:custGeom>
            <a:solidFill>
              <a:srgbClr val="90A295"/>
            </a:solidFill>
          </p:spPr>
        </p:sp>
        <p:sp>
          <p:nvSpPr>
            <p:cNvPr name="TextBox 7" id="7"/>
            <p:cNvSpPr txBox="true"/>
            <p:nvPr/>
          </p:nvSpPr>
          <p:spPr>
            <a:xfrm>
              <a:off x="90336" y="-9525"/>
              <a:ext cx="782911" cy="746125"/>
            </a:xfrm>
            <a:prstGeom prst="rect">
              <a:avLst/>
            </a:prstGeom>
          </p:spPr>
          <p:txBody>
            <a:bodyPr anchor="ctr" rtlCol="false" tIns="50800" lIns="50800" bIns="50800" rIns="50800"/>
            <a:lstStyle/>
            <a:p>
              <a:pPr algn="ctr">
                <a:lnSpc>
                  <a:spcPts val="4900"/>
                </a:lnSpc>
              </a:pPr>
              <a:r>
                <a:rPr lang="en-US" sz="3500">
                  <a:solidFill>
                    <a:srgbClr val="000000"/>
                  </a:solidFill>
                  <a:latin typeface="Archivo Black"/>
                  <a:ea typeface="Archivo Black"/>
                  <a:cs typeface="Archivo Black"/>
                  <a:sym typeface="Archivo Black"/>
                </a:rPr>
                <a:t>Community</a:t>
              </a:r>
            </a:p>
          </p:txBody>
        </p:sp>
      </p:grpSp>
      <p:sp>
        <p:nvSpPr>
          <p:cNvPr name="TextBox 8" id="8"/>
          <p:cNvSpPr txBox="true"/>
          <p:nvPr/>
        </p:nvSpPr>
        <p:spPr>
          <a:xfrm rot="0">
            <a:off x="7792119" y="5217552"/>
            <a:ext cx="2705597" cy="1384300"/>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Archivo Black"/>
                <a:ea typeface="Archivo Black"/>
                <a:cs typeface="Archivo Black"/>
                <a:sym typeface="Archivo Black"/>
              </a:rPr>
              <a:t>App Features</a:t>
            </a:r>
          </a:p>
        </p:txBody>
      </p:sp>
      <p:grpSp>
        <p:nvGrpSpPr>
          <p:cNvPr name="Group 9" id="9"/>
          <p:cNvGrpSpPr/>
          <p:nvPr/>
        </p:nvGrpSpPr>
        <p:grpSpPr>
          <a:xfrm rot="0">
            <a:off x="7314699" y="233965"/>
            <a:ext cx="3658602" cy="3086100"/>
            <a:chOff x="0" y="0"/>
            <a:chExt cx="963583" cy="812800"/>
          </a:xfrm>
        </p:grpSpPr>
        <p:sp>
          <p:nvSpPr>
            <p:cNvPr name="Freeform 10" id="10"/>
            <p:cNvSpPr/>
            <p:nvPr/>
          </p:nvSpPr>
          <p:spPr>
            <a:xfrm flipH="false" flipV="false" rot="0">
              <a:off x="0" y="0"/>
              <a:ext cx="963583" cy="812800"/>
            </a:xfrm>
            <a:custGeom>
              <a:avLst/>
              <a:gdLst/>
              <a:ahLst/>
              <a:cxnLst/>
              <a:rect r="r" b="b" t="t" l="l"/>
              <a:pathLst>
                <a:path h="812800" w="963583">
                  <a:moveTo>
                    <a:pt x="481791" y="0"/>
                  </a:moveTo>
                  <a:cubicBezTo>
                    <a:pt x="215705" y="0"/>
                    <a:pt x="0" y="181951"/>
                    <a:pt x="0" y="406400"/>
                  </a:cubicBezTo>
                  <a:cubicBezTo>
                    <a:pt x="0" y="630849"/>
                    <a:pt x="215705" y="812800"/>
                    <a:pt x="481791" y="812800"/>
                  </a:cubicBezTo>
                  <a:cubicBezTo>
                    <a:pt x="747877" y="812800"/>
                    <a:pt x="963583" y="630849"/>
                    <a:pt x="963583" y="406400"/>
                  </a:cubicBezTo>
                  <a:cubicBezTo>
                    <a:pt x="963583" y="181951"/>
                    <a:pt x="747877" y="0"/>
                    <a:pt x="481791" y="0"/>
                  </a:cubicBezTo>
                  <a:close/>
                </a:path>
              </a:pathLst>
            </a:custGeom>
            <a:solidFill>
              <a:srgbClr val="90A295"/>
            </a:solidFill>
          </p:spPr>
        </p:sp>
        <p:sp>
          <p:nvSpPr>
            <p:cNvPr name="TextBox 11" id="11"/>
            <p:cNvSpPr txBox="true"/>
            <p:nvPr/>
          </p:nvSpPr>
          <p:spPr>
            <a:xfrm>
              <a:off x="90336" y="-9525"/>
              <a:ext cx="782911" cy="746125"/>
            </a:xfrm>
            <a:prstGeom prst="rect">
              <a:avLst/>
            </a:prstGeom>
          </p:spPr>
          <p:txBody>
            <a:bodyPr anchor="ctr" rtlCol="false" tIns="50800" lIns="50800" bIns="50800" rIns="50800"/>
            <a:lstStyle/>
            <a:p>
              <a:pPr algn="ctr">
                <a:lnSpc>
                  <a:spcPts val="4900"/>
                </a:lnSpc>
              </a:pPr>
              <a:r>
                <a:rPr lang="en-US" sz="3500">
                  <a:solidFill>
                    <a:srgbClr val="000000"/>
                  </a:solidFill>
                  <a:latin typeface="Archivo Black"/>
                  <a:ea typeface="Archivo Black"/>
                  <a:cs typeface="Archivo Black"/>
                  <a:sym typeface="Archivo Black"/>
                </a:rPr>
                <a:t>Group Chat</a:t>
              </a:r>
            </a:p>
          </p:txBody>
        </p:sp>
      </p:grpSp>
      <p:grpSp>
        <p:nvGrpSpPr>
          <p:cNvPr name="Group 12" id="12"/>
          <p:cNvGrpSpPr/>
          <p:nvPr/>
        </p:nvGrpSpPr>
        <p:grpSpPr>
          <a:xfrm rot="0">
            <a:off x="2861821" y="2057400"/>
            <a:ext cx="3658602" cy="3086100"/>
            <a:chOff x="0" y="0"/>
            <a:chExt cx="963583" cy="812800"/>
          </a:xfrm>
        </p:grpSpPr>
        <p:sp>
          <p:nvSpPr>
            <p:cNvPr name="Freeform 13" id="13"/>
            <p:cNvSpPr/>
            <p:nvPr/>
          </p:nvSpPr>
          <p:spPr>
            <a:xfrm flipH="false" flipV="false" rot="0">
              <a:off x="0" y="0"/>
              <a:ext cx="963583" cy="812800"/>
            </a:xfrm>
            <a:custGeom>
              <a:avLst/>
              <a:gdLst/>
              <a:ahLst/>
              <a:cxnLst/>
              <a:rect r="r" b="b" t="t" l="l"/>
              <a:pathLst>
                <a:path h="812800" w="963583">
                  <a:moveTo>
                    <a:pt x="481791" y="0"/>
                  </a:moveTo>
                  <a:cubicBezTo>
                    <a:pt x="215705" y="0"/>
                    <a:pt x="0" y="181951"/>
                    <a:pt x="0" y="406400"/>
                  </a:cubicBezTo>
                  <a:cubicBezTo>
                    <a:pt x="0" y="630849"/>
                    <a:pt x="215705" y="812800"/>
                    <a:pt x="481791" y="812800"/>
                  </a:cubicBezTo>
                  <a:cubicBezTo>
                    <a:pt x="747877" y="812800"/>
                    <a:pt x="963583" y="630849"/>
                    <a:pt x="963583" y="406400"/>
                  </a:cubicBezTo>
                  <a:cubicBezTo>
                    <a:pt x="963583" y="181951"/>
                    <a:pt x="747877" y="0"/>
                    <a:pt x="481791" y="0"/>
                  </a:cubicBezTo>
                  <a:close/>
                </a:path>
              </a:pathLst>
            </a:custGeom>
            <a:solidFill>
              <a:srgbClr val="90A295"/>
            </a:solidFill>
          </p:spPr>
        </p:sp>
        <p:sp>
          <p:nvSpPr>
            <p:cNvPr name="TextBox 14" id="14"/>
            <p:cNvSpPr txBox="true"/>
            <p:nvPr/>
          </p:nvSpPr>
          <p:spPr>
            <a:xfrm>
              <a:off x="90336" y="-9525"/>
              <a:ext cx="782911" cy="746125"/>
            </a:xfrm>
            <a:prstGeom prst="rect">
              <a:avLst/>
            </a:prstGeom>
          </p:spPr>
          <p:txBody>
            <a:bodyPr anchor="ctr" rtlCol="false" tIns="50800" lIns="50800" bIns="50800" rIns="50800"/>
            <a:lstStyle/>
            <a:p>
              <a:pPr algn="ctr">
                <a:lnSpc>
                  <a:spcPts val="4900"/>
                </a:lnSpc>
              </a:pPr>
              <a:r>
                <a:rPr lang="en-US" sz="3500">
                  <a:solidFill>
                    <a:srgbClr val="000000"/>
                  </a:solidFill>
                  <a:latin typeface="Archivo Black"/>
                  <a:ea typeface="Archivo Black"/>
                  <a:cs typeface="Archivo Black"/>
                  <a:sym typeface="Archivo Black"/>
                </a:rPr>
                <a:t>Budget tracker</a:t>
              </a:r>
            </a:p>
          </p:txBody>
        </p:sp>
      </p:grpSp>
      <p:grpSp>
        <p:nvGrpSpPr>
          <p:cNvPr name="Group 15" id="15"/>
          <p:cNvGrpSpPr/>
          <p:nvPr/>
        </p:nvGrpSpPr>
        <p:grpSpPr>
          <a:xfrm rot="0">
            <a:off x="11156883" y="6773747"/>
            <a:ext cx="3658602" cy="3086100"/>
            <a:chOff x="0" y="0"/>
            <a:chExt cx="963583" cy="812800"/>
          </a:xfrm>
        </p:grpSpPr>
        <p:sp>
          <p:nvSpPr>
            <p:cNvPr name="Freeform 16" id="16"/>
            <p:cNvSpPr/>
            <p:nvPr/>
          </p:nvSpPr>
          <p:spPr>
            <a:xfrm flipH="false" flipV="false" rot="0">
              <a:off x="0" y="0"/>
              <a:ext cx="963583" cy="812800"/>
            </a:xfrm>
            <a:custGeom>
              <a:avLst/>
              <a:gdLst/>
              <a:ahLst/>
              <a:cxnLst/>
              <a:rect r="r" b="b" t="t" l="l"/>
              <a:pathLst>
                <a:path h="812800" w="963583">
                  <a:moveTo>
                    <a:pt x="481791" y="0"/>
                  </a:moveTo>
                  <a:cubicBezTo>
                    <a:pt x="215705" y="0"/>
                    <a:pt x="0" y="181951"/>
                    <a:pt x="0" y="406400"/>
                  </a:cubicBezTo>
                  <a:cubicBezTo>
                    <a:pt x="0" y="630849"/>
                    <a:pt x="215705" y="812800"/>
                    <a:pt x="481791" y="812800"/>
                  </a:cubicBezTo>
                  <a:cubicBezTo>
                    <a:pt x="747877" y="812800"/>
                    <a:pt x="963583" y="630849"/>
                    <a:pt x="963583" y="406400"/>
                  </a:cubicBezTo>
                  <a:cubicBezTo>
                    <a:pt x="963583" y="181951"/>
                    <a:pt x="747877" y="0"/>
                    <a:pt x="481791" y="0"/>
                  </a:cubicBezTo>
                  <a:close/>
                </a:path>
              </a:pathLst>
            </a:custGeom>
            <a:solidFill>
              <a:srgbClr val="90A295"/>
            </a:solidFill>
          </p:spPr>
        </p:sp>
        <p:sp>
          <p:nvSpPr>
            <p:cNvPr name="TextBox 17" id="17"/>
            <p:cNvSpPr txBox="true"/>
            <p:nvPr/>
          </p:nvSpPr>
          <p:spPr>
            <a:xfrm>
              <a:off x="90336" y="-9525"/>
              <a:ext cx="782911" cy="746125"/>
            </a:xfrm>
            <a:prstGeom prst="rect">
              <a:avLst/>
            </a:prstGeom>
          </p:spPr>
          <p:txBody>
            <a:bodyPr anchor="ctr" rtlCol="false" tIns="50800" lIns="50800" bIns="50800" rIns="50800"/>
            <a:lstStyle/>
            <a:p>
              <a:pPr algn="ctr">
                <a:lnSpc>
                  <a:spcPts val="4900"/>
                </a:lnSpc>
              </a:pPr>
              <a:r>
                <a:rPr lang="en-US" sz="3500">
                  <a:solidFill>
                    <a:srgbClr val="000000"/>
                  </a:solidFill>
                  <a:latin typeface="Archivo Black"/>
                  <a:ea typeface="Archivo Black"/>
                  <a:cs typeface="Archivo Black"/>
                  <a:sym typeface="Archivo Black"/>
                </a:rPr>
                <a:t>AI Travel Co-Pilot</a:t>
              </a:r>
            </a:p>
          </p:txBody>
        </p:sp>
      </p:grpSp>
      <p:grpSp>
        <p:nvGrpSpPr>
          <p:cNvPr name="Group 18" id="18"/>
          <p:cNvGrpSpPr/>
          <p:nvPr/>
        </p:nvGrpSpPr>
        <p:grpSpPr>
          <a:xfrm rot="0">
            <a:off x="3435209" y="6773747"/>
            <a:ext cx="3658602" cy="3086100"/>
            <a:chOff x="0" y="0"/>
            <a:chExt cx="963583" cy="812800"/>
          </a:xfrm>
        </p:grpSpPr>
        <p:sp>
          <p:nvSpPr>
            <p:cNvPr name="Freeform 19" id="19"/>
            <p:cNvSpPr/>
            <p:nvPr/>
          </p:nvSpPr>
          <p:spPr>
            <a:xfrm flipH="false" flipV="false" rot="0">
              <a:off x="0" y="0"/>
              <a:ext cx="963583" cy="812800"/>
            </a:xfrm>
            <a:custGeom>
              <a:avLst/>
              <a:gdLst/>
              <a:ahLst/>
              <a:cxnLst/>
              <a:rect r="r" b="b" t="t" l="l"/>
              <a:pathLst>
                <a:path h="812800" w="963583">
                  <a:moveTo>
                    <a:pt x="481791" y="0"/>
                  </a:moveTo>
                  <a:cubicBezTo>
                    <a:pt x="215705" y="0"/>
                    <a:pt x="0" y="181951"/>
                    <a:pt x="0" y="406400"/>
                  </a:cubicBezTo>
                  <a:cubicBezTo>
                    <a:pt x="0" y="630849"/>
                    <a:pt x="215705" y="812800"/>
                    <a:pt x="481791" y="812800"/>
                  </a:cubicBezTo>
                  <a:cubicBezTo>
                    <a:pt x="747877" y="812800"/>
                    <a:pt x="963583" y="630849"/>
                    <a:pt x="963583" y="406400"/>
                  </a:cubicBezTo>
                  <a:cubicBezTo>
                    <a:pt x="963583" y="181951"/>
                    <a:pt x="747877" y="0"/>
                    <a:pt x="481791" y="0"/>
                  </a:cubicBezTo>
                  <a:close/>
                </a:path>
              </a:pathLst>
            </a:custGeom>
            <a:solidFill>
              <a:srgbClr val="90A295"/>
            </a:solidFill>
          </p:spPr>
        </p:sp>
        <p:sp>
          <p:nvSpPr>
            <p:cNvPr name="TextBox 20" id="20"/>
            <p:cNvSpPr txBox="true"/>
            <p:nvPr/>
          </p:nvSpPr>
          <p:spPr>
            <a:xfrm>
              <a:off x="90336" y="-9525"/>
              <a:ext cx="782911" cy="746125"/>
            </a:xfrm>
            <a:prstGeom prst="rect">
              <a:avLst/>
            </a:prstGeom>
          </p:spPr>
          <p:txBody>
            <a:bodyPr anchor="ctr" rtlCol="false" tIns="50800" lIns="50800" bIns="50800" rIns="50800"/>
            <a:lstStyle/>
            <a:p>
              <a:pPr algn="ctr">
                <a:lnSpc>
                  <a:spcPts val="4900"/>
                </a:lnSpc>
              </a:pPr>
              <a:r>
                <a:rPr lang="en-US" sz="3500">
                  <a:solidFill>
                    <a:srgbClr val="000000"/>
                  </a:solidFill>
                  <a:latin typeface="Archivo Black"/>
                  <a:ea typeface="Archivo Black"/>
                  <a:cs typeface="Archivo Black"/>
                  <a:sym typeface="Archivo Black"/>
                </a:rPr>
                <a:t>AI Planner</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5400000">
            <a:off x="-2057400" y="3086100"/>
            <a:ext cx="8229600" cy="4114800"/>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alpha val="14902"/>
              </a:srgbClr>
            </a:solidFill>
            <a:ln cap="sq">
              <a:noFill/>
              <a:prstDash val="solid"/>
              <a:miter/>
            </a:ln>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just">
                <a:lnSpc>
                  <a:spcPts val="2659"/>
                </a:lnSpc>
                <a:spcBef>
                  <a:spcPct val="0"/>
                </a:spcBef>
              </a:pPr>
            </a:p>
          </p:txBody>
        </p:sp>
      </p:grpSp>
      <p:grpSp>
        <p:nvGrpSpPr>
          <p:cNvPr name="Group 5" id="5"/>
          <p:cNvGrpSpPr/>
          <p:nvPr/>
        </p:nvGrpSpPr>
        <p:grpSpPr>
          <a:xfrm rot="0">
            <a:off x="4796855" y="3082156"/>
            <a:ext cx="9884932" cy="988493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026227" y="-1809905"/>
            <a:ext cx="6086477" cy="60864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7042429" y="6803747"/>
            <a:ext cx="1649977" cy="841165"/>
            <a:chOff x="0" y="0"/>
            <a:chExt cx="647700" cy="330200"/>
          </a:xfrm>
        </p:grpSpPr>
        <p:sp>
          <p:nvSpPr>
            <p:cNvPr name="Freeform 12" id="12"/>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13" id="13"/>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3658850" y="0"/>
            <a:ext cx="4629150" cy="10287000"/>
          </a:xfrm>
          <a:custGeom>
            <a:avLst/>
            <a:gdLst/>
            <a:ahLst/>
            <a:cxnLst/>
            <a:rect r="r" b="b" t="t" l="l"/>
            <a:pathLst>
              <a:path h="10287000" w="4629150">
                <a:moveTo>
                  <a:pt x="0" y="0"/>
                </a:moveTo>
                <a:lnTo>
                  <a:pt x="4629150" y="0"/>
                </a:lnTo>
                <a:lnTo>
                  <a:pt x="4629150" y="10287000"/>
                </a:lnTo>
                <a:lnTo>
                  <a:pt x="0" y="10287000"/>
                </a:lnTo>
                <a:lnTo>
                  <a:pt x="0" y="0"/>
                </a:lnTo>
                <a:close/>
              </a:path>
            </a:pathLst>
          </a:custGeom>
          <a:blipFill>
            <a:blip r:embed="rId2"/>
            <a:stretch>
              <a:fillRect l="0" t="0" r="0" b="0"/>
            </a:stretch>
          </a:blipFill>
        </p:spPr>
      </p:sp>
      <p:sp>
        <p:nvSpPr>
          <p:cNvPr name="TextBox 15" id="15"/>
          <p:cNvSpPr txBox="true"/>
          <p:nvPr/>
        </p:nvSpPr>
        <p:spPr>
          <a:xfrm rot="0">
            <a:off x="720796" y="354811"/>
            <a:ext cx="14996220" cy="1576069"/>
          </a:xfrm>
          <a:prstGeom prst="rect">
            <a:avLst/>
          </a:prstGeom>
        </p:spPr>
        <p:txBody>
          <a:bodyPr anchor="t" rtlCol="false" tIns="0" lIns="0" bIns="0" rIns="0">
            <a:spAutoFit/>
          </a:bodyPr>
          <a:lstStyle/>
          <a:p>
            <a:pPr algn="l">
              <a:lnSpc>
                <a:spcPts val="12880"/>
              </a:lnSpc>
            </a:pPr>
            <a:r>
              <a:rPr lang="en-US" sz="9200">
                <a:solidFill>
                  <a:srgbClr val="452829"/>
                </a:solidFill>
                <a:latin typeface="Archivo Black"/>
                <a:ea typeface="Archivo Black"/>
                <a:cs typeface="Archivo Black"/>
                <a:sym typeface="Archivo Black"/>
              </a:rPr>
              <a:t>AI Planner</a:t>
            </a:r>
          </a:p>
        </p:txBody>
      </p:sp>
      <p:sp>
        <p:nvSpPr>
          <p:cNvPr name="TextBox 16" id="16"/>
          <p:cNvSpPr txBox="true"/>
          <p:nvPr/>
        </p:nvSpPr>
        <p:spPr>
          <a:xfrm rot="0">
            <a:off x="628214" y="1845155"/>
            <a:ext cx="8337282" cy="5686424"/>
          </a:xfrm>
          <a:prstGeom prst="rect">
            <a:avLst/>
          </a:prstGeom>
        </p:spPr>
        <p:txBody>
          <a:bodyPr anchor="t" rtlCol="false" tIns="0" lIns="0" bIns="0" rIns="0">
            <a:spAutoFit/>
          </a:bodyPr>
          <a:lstStyle/>
          <a:p>
            <a:pPr algn="l">
              <a:lnSpc>
                <a:spcPts val="4500"/>
              </a:lnSpc>
            </a:pPr>
            <a:r>
              <a:rPr lang="en-US" sz="3000" i="true">
                <a:solidFill>
                  <a:srgbClr val="452829"/>
                </a:solidFill>
                <a:latin typeface="Open Sans Italics"/>
                <a:ea typeface="Open Sans Italics"/>
                <a:cs typeface="Open Sans Italics"/>
                <a:sym typeface="Open Sans Italics"/>
              </a:rPr>
              <a:t>Can plan whole journey: </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 Plan Budget (Affordable/Midrange/Premium)</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 Suggest a suitable location</a:t>
            </a:r>
          </a:p>
          <a:p>
            <a:pPr algn="l" marL="1295410" indent="-431803" lvl="2">
              <a:lnSpc>
                <a:spcPts val="4500"/>
              </a:lnSpc>
              <a:buAutoNum type="alphaLcPeriod" startAt="1"/>
            </a:pPr>
            <a:r>
              <a:rPr lang="en-US" sz="3000" i="true">
                <a:solidFill>
                  <a:srgbClr val="452829"/>
                </a:solidFill>
                <a:latin typeface="Open Sans Italics"/>
                <a:ea typeface="Open Sans Italics"/>
                <a:cs typeface="Open Sans Italics"/>
                <a:sym typeface="Open Sans Italics"/>
              </a:rPr>
              <a:t>Restaurant</a:t>
            </a:r>
          </a:p>
          <a:p>
            <a:pPr algn="l" marL="1295410" indent="-431803" lvl="2">
              <a:lnSpc>
                <a:spcPts val="4500"/>
              </a:lnSpc>
              <a:buAutoNum type="alphaLcPeriod" startAt="1"/>
            </a:pPr>
            <a:r>
              <a:rPr lang="en-US" sz="3000" i="true">
                <a:solidFill>
                  <a:srgbClr val="452829"/>
                </a:solidFill>
                <a:latin typeface="Open Sans Italics"/>
                <a:ea typeface="Open Sans Italics"/>
                <a:cs typeface="Open Sans Italics"/>
                <a:sym typeface="Open Sans Italics"/>
              </a:rPr>
              <a:t>Entertaiment</a:t>
            </a:r>
          </a:p>
          <a:p>
            <a:pPr algn="l" marL="1295410" indent="-431803" lvl="2">
              <a:lnSpc>
                <a:spcPts val="4500"/>
              </a:lnSpc>
              <a:buAutoNum type="alphaLcPeriod" startAt="1"/>
            </a:pPr>
            <a:r>
              <a:rPr lang="en-US" sz="3000" i="true">
                <a:solidFill>
                  <a:srgbClr val="452829"/>
                </a:solidFill>
                <a:latin typeface="Open Sans Italics"/>
                <a:ea typeface="Open Sans Italics"/>
                <a:cs typeface="Open Sans Italics"/>
                <a:sym typeface="Open Sans Italics"/>
              </a:rPr>
              <a:t>Culture/History</a:t>
            </a:r>
          </a:p>
          <a:p>
            <a:pPr algn="l" marL="1295410" indent="-431803" lvl="2">
              <a:lnSpc>
                <a:spcPts val="4500"/>
              </a:lnSpc>
              <a:buAutoNum type="alphaLcPeriod" startAt="1"/>
            </a:pPr>
            <a:r>
              <a:rPr lang="en-US" sz="3000" i="true">
                <a:solidFill>
                  <a:srgbClr val="452829"/>
                </a:solidFill>
                <a:latin typeface="Open Sans Italics"/>
                <a:ea typeface="Open Sans Italics"/>
                <a:cs typeface="Open Sans Italics"/>
                <a:sym typeface="Open Sans Italics"/>
              </a:rPr>
              <a:t>Knowledge</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Plan the time and date</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Plan the transport</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Create document to refer to</a:t>
            </a:r>
          </a:p>
        </p:txBody>
      </p:sp>
      <p:sp>
        <p:nvSpPr>
          <p:cNvPr name="TextBox 17" id="17"/>
          <p:cNvSpPr txBox="true"/>
          <p:nvPr/>
        </p:nvSpPr>
        <p:spPr>
          <a:xfrm rot="0">
            <a:off x="5841298" y="5057775"/>
            <a:ext cx="7817552" cy="4543424"/>
          </a:xfrm>
          <a:prstGeom prst="rect">
            <a:avLst/>
          </a:prstGeom>
        </p:spPr>
        <p:txBody>
          <a:bodyPr anchor="t" rtlCol="false" tIns="0" lIns="0" bIns="0" rIns="0">
            <a:spAutoFit/>
          </a:bodyPr>
          <a:lstStyle/>
          <a:p>
            <a:pPr algn="l">
              <a:lnSpc>
                <a:spcPts val="4500"/>
              </a:lnSpc>
            </a:pPr>
            <a:r>
              <a:rPr lang="en-US" sz="3000" i="true">
                <a:solidFill>
                  <a:srgbClr val="452829"/>
                </a:solidFill>
                <a:latin typeface="Open Sans Italics"/>
                <a:ea typeface="Open Sans Italics"/>
                <a:cs typeface="Open Sans Italics"/>
                <a:sym typeface="Open Sans Italics"/>
              </a:rPr>
              <a:t>HIGHTLIGHT：</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Can manually modify the plan, it will also help to rewrite the document</a:t>
            </a:r>
          </a:p>
          <a:p>
            <a:pPr algn="l" marL="647705" indent="-323852" lvl="1">
              <a:lnSpc>
                <a:spcPts val="4500"/>
              </a:lnSpc>
              <a:buAutoNum type="arabicPeriod" startAt="1"/>
            </a:pPr>
            <a:r>
              <a:rPr lang="en-US" sz="3000" i="true">
                <a:solidFill>
                  <a:srgbClr val="452829"/>
                </a:solidFill>
                <a:latin typeface="Open Sans Italics"/>
                <a:ea typeface="Open Sans Italics"/>
                <a:cs typeface="Open Sans Italics"/>
                <a:sym typeface="Open Sans Italics"/>
              </a:rPr>
              <a:t> It will automatically view the details of travel destinations.</a:t>
            </a:r>
          </a:p>
          <a:p>
            <a:pPr algn="l" marL="1295410" indent="-431803" lvl="2">
              <a:lnSpc>
                <a:spcPts val="4500"/>
              </a:lnSpc>
              <a:buAutoNum type="alphaLcPeriod" startAt="1"/>
            </a:pPr>
            <a:r>
              <a:rPr lang="en-US" sz="3000" i="true">
                <a:solidFill>
                  <a:srgbClr val="452829"/>
                </a:solidFill>
                <a:latin typeface="Open Sans Italics"/>
                <a:ea typeface="Open Sans Italics"/>
                <a:cs typeface="Open Sans Italics"/>
                <a:sym typeface="Open Sans Italics"/>
              </a:rPr>
              <a:t> Give suggestion to join the local event</a:t>
            </a:r>
          </a:p>
          <a:p>
            <a:pPr algn="l" marL="1295410" indent="-431803" lvl="2">
              <a:lnSpc>
                <a:spcPts val="4500"/>
              </a:lnSpc>
              <a:buAutoNum type="alphaLcPeriod" startAt="1"/>
            </a:pPr>
            <a:r>
              <a:rPr lang="en-US" sz="3000" i="true">
                <a:solidFill>
                  <a:srgbClr val="452829"/>
                </a:solidFill>
                <a:latin typeface="Open Sans Italics"/>
                <a:ea typeface="Open Sans Italics"/>
                <a:cs typeface="Open Sans Italics"/>
                <a:sym typeface="Open Sans Italics"/>
              </a:rPr>
              <a:t>Observe any accident and give a backup plan</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42947" y="608118"/>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770469" y="355600"/>
            <a:ext cx="12030305"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Budget tracker </a:t>
            </a:r>
          </a:p>
        </p:txBody>
      </p:sp>
      <p:sp>
        <p:nvSpPr>
          <p:cNvPr name="TextBox 9" id="9"/>
          <p:cNvSpPr txBox="true"/>
          <p:nvPr/>
        </p:nvSpPr>
        <p:spPr>
          <a:xfrm rot="0">
            <a:off x="788026" y="1792605"/>
            <a:ext cx="16711947" cy="7465695"/>
          </a:xfrm>
          <a:prstGeom prst="rect">
            <a:avLst/>
          </a:prstGeom>
        </p:spPr>
        <p:txBody>
          <a:bodyPr anchor="t" rtlCol="false" tIns="0" lIns="0" bIns="0" rIns="0">
            <a:spAutoFit/>
          </a:bodyPr>
          <a:lstStyle/>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Implemented a Dynamic Allowance system. If a user saves money on Monday (e.g., they ate street food instead of a restaurant), that surplus automatically moves to Tuesday. Their "Safe to Spend" ring actually grows! Conversely, if they overspend, it intelligently recalculates to keep the trip on track. It’s a "Living Budget."</a:t>
            </a:r>
          </a:p>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Added Back-Tracking support with a Date Picker. Users can go back in time to log missed items, and the "Safe to Spend" pulse ring for today will re-adjust instantly.</a:t>
            </a:r>
            <a:r>
              <a:rPr lang="en-US" sz="3999" i="true">
                <a:solidFill>
                  <a:srgbClr val="452829"/>
                </a:solidFill>
                <a:latin typeface="Open Sans Italics"/>
                <a:ea typeface="Open Sans Italics"/>
                <a:cs typeface="Open Sans Italics"/>
                <a:sym typeface="Open Sans Italics"/>
              </a:rPr>
              <a:t>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42947" y="608118"/>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770469" y="355600"/>
            <a:ext cx="12030305"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Budget Planner</a:t>
            </a:r>
          </a:p>
        </p:txBody>
      </p:sp>
      <p:grpSp>
        <p:nvGrpSpPr>
          <p:cNvPr name="Group 9" id="9"/>
          <p:cNvGrpSpPr/>
          <p:nvPr/>
        </p:nvGrpSpPr>
        <p:grpSpPr>
          <a:xfrm rot="0">
            <a:off x="10700953" y="1558925"/>
            <a:ext cx="5704937" cy="8246491"/>
            <a:chOff x="0" y="0"/>
            <a:chExt cx="992288" cy="1434353"/>
          </a:xfrm>
        </p:grpSpPr>
        <p:sp>
          <p:nvSpPr>
            <p:cNvPr name="Freeform 10" id="10"/>
            <p:cNvSpPr/>
            <p:nvPr/>
          </p:nvSpPr>
          <p:spPr>
            <a:xfrm flipH="false" flipV="false" rot="0">
              <a:off x="0" y="0"/>
              <a:ext cx="992288" cy="1434353"/>
            </a:xfrm>
            <a:custGeom>
              <a:avLst/>
              <a:gdLst/>
              <a:ahLst/>
              <a:cxnLst/>
              <a:rect r="r" b="b" t="t" l="l"/>
              <a:pathLst>
                <a:path h="1434353" w="992288">
                  <a:moveTo>
                    <a:pt x="0" y="0"/>
                  </a:moveTo>
                  <a:lnTo>
                    <a:pt x="992288" y="0"/>
                  </a:lnTo>
                  <a:lnTo>
                    <a:pt x="992288" y="1434353"/>
                  </a:lnTo>
                  <a:lnTo>
                    <a:pt x="0" y="1434353"/>
                  </a:lnTo>
                  <a:close/>
                </a:path>
              </a:pathLst>
            </a:custGeom>
            <a:blipFill>
              <a:blip r:embed="rId2"/>
              <a:stretch>
                <a:fillRect l="0" t="-26126" r="0" b="-26126"/>
              </a:stretch>
            </a:blipFill>
          </p:spPr>
        </p:sp>
      </p:grpSp>
      <p:grpSp>
        <p:nvGrpSpPr>
          <p:cNvPr name="Group 11" id="11"/>
          <p:cNvGrpSpPr/>
          <p:nvPr/>
        </p:nvGrpSpPr>
        <p:grpSpPr>
          <a:xfrm rot="0">
            <a:off x="2093909" y="1558925"/>
            <a:ext cx="5275095" cy="8381259"/>
            <a:chOff x="0" y="0"/>
            <a:chExt cx="902770" cy="1434353"/>
          </a:xfrm>
        </p:grpSpPr>
        <p:sp>
          <p:nvSpPr>
            <p:cNvPr name="Freeform 12" id="12"/>
            <p:cNvSpPr/>
            <p:nvPr/>
          </p:nvSpPr>
          <p:spPr>
            <a:xfrm flipH="false" flipV="false" rot="0">
              <a:off x="0" y="0"/>
              <a:ext cx="902770" cy="1434353"/>
            </a:xfrm>
            <a:custGeom>
              <a:avLst/>
              <a:gdLst/>
              <a:ahLst/>
              <a:cxnLst/>
              <a:rect r="r" b="b" t="t" l="l"/>
              <a:pathLst>
                <a:path h="1434353" w="902770">
                  <a:moveTo>
                    <a:pt x="0" y="0"/>
                  </a:moveTo>
                  <a:lnTo>
                    <a:pt x="902770" y="0"/>
                  </a:lnTo>
                  <a:lnTo>
                    <a:pt x="902770" y="1434353"/>
                  </a:lnTo>
                  <a:lnTo>
                    <a:pt x="0" y="1434353"/>
                  </a:lnTo>
                  <a:close/>
                </a:path>
              </a:pathLst>
            </a:custGeom>
            <a:blipFill>
              <a:blip r:embed="rId3"/>
              <a:stretch>
                <a:fillRect l="-4485" t="-9212" r="-5430" b="-43197"/>
              </a:stretch>
            </a:blip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42947" y="608118"/>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770469" y="355600"/>
            <a:ext cx="12030305"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Budget Planner</a:t>
            </a:r>
          </a:p>
        </p:txBody>
      </p:sp>
      <p:sp>
        <p:nvSpPr>
          <p:cNvPr name="TextBox 9" id="9"/>
          <p:cNvSpPr txBox="true"/>
          <p:nvPr/>
        </p:nvSpPr>
        <p:spPr>
          <a:xfrm rot="0">
            <a:off x="547353" y="2187597"/>
            <a:ext cx="16711947" cy="6522720"/>
          </a:xfrm>
          <a:prstGeom prst="rect">
            <a:avLst/>
          </a:prstGeom>
        </p:spPr>
        <p:txBody>
          <a:bodyPr anchor="t" rtlCol="false" tIns="0" lIns="0" bIns="0" rIns="0">
            <a:spAutoFit/>
          </a:bodyPr>
          <a:lstStyle/>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Integrated a Safety Buffer Slider (0–20%). This allows users to bake an "Emergency Fund" directly into their plan with one swipe. The app treats this as a separate, protected category.</a:t>
            </a:r>
          </a:p>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Added Quick Start Templates (Backpacker, Mid-Range, Luxury). These aren't just labels; they are intelligent presets that suggest realistic daily allowances and category ratios based on the user's selected travel style.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42947" y="608118"/>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700953" y="1558925"/>
            <a:ext cx="5704937" cy="8246491"/>
            <a:chOff x="0" y="0"/>
            <a:chExt cx="992288" cy="1434353"/>
          </a:xfrm>
        </p:grpSpPr>
        <p:sp>
          <p:nvSpPr>
            <p:cNvPr name="Freeform 9" id="9"/>
            <p:cNvSpPr/>
            <p:nvPr/>
          </p:nvSpPr>
          <p:spPr>
            <a:xfrm flipH="false" flipV="false" rot="0">
              <a:off x="0" y="0"/>
              <a:ext cx="992288" cy="1434353"/>
            </a:xfrm>
            <a:custGeom>
              <a:avLst/>
              <a:gdLst/>
              <a:ahLst/>
              <a:cxnLst/>
              <a:rect r="r" b="b" t="t" l="l"/>
              <a:pathLst>
                <a:path h="1434353" w="992288">
                  <a:moveTo>
                    <a:pt x="0" y="0"/>
                  </a:moveTo>
                  <a:lnTo>
                    <a:pt x="992288" y="0"/>
                  </a:lnTo>
                  <a:lnTo>
                    <a:pt x="992288" y="1434353"/>
                  </a:lnTo>
                  <a:lnTo>
                    <a:pt x="0" y="1434353"/>
                  </a:lnTo>
                  <a:close/>
                </a:path>
              </a:pathLst>
            </a:custGeom>
            <a:blipFill>
              <a:blip r:embed="rId2"/>
              <a:stretch>
                <a:fillRect l="0" t="-32246" r="0" b="-20164"/>
              </a:stretch>
            </a:blipFill>
          </p:spPr>
        </p:sp>
      </p:grpSp>
      <p:grpSp>
        <p:nvGrpSpPr>
          <p:cNvPr name="Group 10" id="10"/>
          <p:cNvGrpSpPr/>
          <p:nvPr/>
        </p:nvGrpSpPr>
        <p:grpSpPr>
          <a:xfrm rot="0">
            <a:off x="2093909" y="1558925"/>
            <a:ext cx="5275095" cy="8381259"/>
            <a:chOff x="0" y="0"/>
            <a:chExt cx="902770" cy="1434353"/>
          </a:xfrm>
        </p:grpSpPr>
        <p:sp>
          <p:nvSpPr>
            <p:cNvPr name="Freeform 11" id="11"/>
            <p:cNvSpPr/>
            <p:nvPr/>
          </p:nvSpPr>
          <p:spPr>
            <a:xfrm flipH="false" flipV="false" rot="0">
              <a:off x="0" y="0"/>
              <a:ext cx="902770" cy="1434353"/>
            </a:xfrm>
            <a:custGeom>
              <a:avLst/>
              <a:gdLst/>
              <a:ahLst/>
              <a:cxnLst/>
              <a:rect r="r" b="b" t="t" l="l"/>
              <a:pathLst>
                <a:path h="1434353" w="902770">
                  <a:moveTo>
                    <a:pt x="0" y="0"/>
                  </a:moveTo>
                  <a:lnTo>
                    <a:pt x="902770" y="0"/>
                  </a:lnTo>
                  <a:lnTo>
                    <a:pt x="902770" y="1434353"/>
                  </a:lnTo>
                  <a:lnTo>
                    <a:pt x="0" y="1434353"/>
                  </a:lnTo>
                  <a:close/>
                </a:path>
              </a:pathLst>
            </a:custGeom>
            <a:blipFill>
              <a:blip r:embed="rId3"/>
              <a:stretch>
                <a:fillRect l="0" t="-20506" r="0" b="-18155"/>
              </a:stretch>
            </a:blipFill>
          </p:spPr>
        </p:sp>
      </p:grpSp>
      <p:sp>
        <p:nvSpPr>
          <p:cNvPr name="TextBox 12" id="12"/>
          <p:cNvSpPr txBox="true"/>
          <p:nvPr/>
        </p:nvSpPr>
        <p:spPr>
          <a:xfrm rot="0">
            <a:off x="1770469" y="355600"/>
            <a:ext cx="12030305"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Budget Planner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42947" y="608118"/>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788026" y="1792605"/>
            <a:ext cx="12300144" cy="7465695"/>
          </a:xfrm>
          <a:prstGeom prst="rect">
            <a:avLst/>
          </a:prstGeom>
        </p:spPr>
        <p:txBody>
          <a:bodyPr anchor="t" rtlCol="false" tIns="0" lIns="0" bIns="0" rIns="0">
            <a:spAutoFit/>
          </a:bodyPr>
          <a:lstStyle/>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An integrated map service that provides turn-by-turn navigation directly to destinations found in the user's AI-planned itinerary.</a:t>
            </a:r>
          </a:p>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Built directly into the ecosystem to ensure a seamless transition from planning to traveling without the friction of external apps.</a:t>
            </a:r>
          </a:p>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Integration with the In-app Calendar helps make it easy for users to plan routes</a:t>
            </a:r>
          </a:p>
        </p:txBody>
      </p:sp>
      <p:sp>
        <p:nvSpPr>
          <p:cNvPr name="Freeform 9" id="9"/>
          <p:cNvSpPr/>
          <p:nvPr/>
        </p:nvSpPr>
        <p:spPr>
          <a:xfrm flipH="false" flipV="false" rot="0">
            <a:off x="13658850" y="0"/>
            <a:ext cx="4629150" cy="10287000"/>
          </a:xfrm>
          <a:custGeom>
            <a:avLst/>
            <a:gdLst/>
            <a:ahLst/>
            <a:cxnLst/>
            <a:rect r="r" b="b" t="t" l="l"/>
            <a:pathLst>
              <a:path h="10287000" w="4629150">
                <a:moveTo>
                  <a:pt x="0" y="0"/>
                </a:moveTo>
                <a:lnTo>
                  <a:pt x="4629150" y="0"/>
                </a:lnTo>
                <a:lnTo>
                  <a:pt x="4629150" y="10287000"/>
                </a:lnTo>
                <a:lnTo>
                  <a:pt x="0" y="10287000"/>
                </a:lnTo>
                <a:lnTo>
                  <a:pt x="0" y="0"/>
                </a:lnTo>
                <a:close/>
              </a:path>
            </a:pathLst>
          </a:custGeom>
          <a:blipFill>
            <a:blip r:embed="rId2"/>
            <a:stretch>
              <a:fillRect l="0" t="0" r="0" b="0"/>
            </a:stretch>
          </a:blipFill>
        </p:spPr>
      </p:sp>
      <p:sp>
        <p:nvSpPr>
          <p:cNvPr name="TextBox 10" id="10"/>
          <p:cNvSpPr txBox="true"/>
          <p:nvPr/>
        </p:nvSpPr>
        <p:spPr>
          <a:xfrm rot="0">
            <a:off x="1770469" y="355600"/>
            <a:ext cx="12030305"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Navigation / Map</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0">
            <a:off x="-949330" y="5143500"/>
            <a:ext cx="6086477" cy="608647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42947" y="608118"/>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788026" y="1792605"/>
            <a:ext cx="12300144" cy="7465695"/>
          </a:xfrm>
          <a:prstGeom prst="rect">
            <a:avLst/>
          </a:prstGeom>
        </p:spPr>
        <p:txBody>
          <a:bodyPr anchor="t" rtlCol="false" tIns="0" lIns="0" bIns="0" rIns="0">
            <a:spAutoFit/>
          </a:bodyPr>
          <a:lstStyle/>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An in-app calendar that is able to record plans such as planned locations to visit, hotels to stay at, and notes to keep track off.</a:t>
            </a:r>
          </a:p>
          <a:p>
            <a:pPr algn="l" marL="863599" indent="-431800" lvl="1">
              <a:lnSpc>
                <a:spcPts val="7439"/>
              </a:lnSpc>
              <a:buFont typeface="Arial"/>
              <a:buChar char="•"/>
            </a:pPr>
            <a:r>
              <a:rPr lang="en-US" sz="3999" i="true">
                <a:solidFill>
                  <a:srgbClr val="452829"/>
                </a:solidFill>
                <a:latin typeface="Open Sans Italics"/>
                <a:ea typeface="Open Sans Italics"/>
                <a:cs typeface="Open Sans Italics"/>
                <a:sym typeface="Open Sans Italics"/>
              </a:rPr>
              <a:t>Has integration with AI Trip Planner and Navigation, allows the AI to update your plans, and view routes and photos in-app. Allows collaboration with other people in Group Chat, helping people in a group plan hassle free.</a:t>
            </a:r>
          </a:p>
        </p:txBody>
      </p:sp>
      <p:sp>
        <p:nvSpPr>
          <p:cNvPr name="Freeform 9" id="9"/>
          <p:cNvSpPr/>
          <p:nvPr/>
        </p:nvSpPr>
        <p:spPr>
          <a:xfrm flipH="false" flipV="false" rot="0">
            <a:off x="13658850" y="0"/>
            <a:ext cx="4629150" cy="10287000"/>
          </a:xfrm>
          <a:custGeom>
            <a:avLst/>
            <a:gdLst/>
            <a:ahLst/>
            <a:cxnLst/>
            <a:rect r="r" b="b" t="t" l="l"/>
            <a:pathLst>
              <a:path h="10287000" w="4629150">
                <a:moveTo>
                  <a:pt x="0" y="0"/>
                </a:moveTo>
                <a:lnTo>
                  <a:pt x="4629150" y="0"/>
                </a:lnTo>
                <a:lnTo>
                  <a:pt x="4629150" y="10287000"/>
                </a:lnTo>
                <a:lnTo>
                  <a:pt x="0" y="10287000"/>
                </a:lnTo>
                <a:lnTo>
                  <a:pt x="0" y="0"/>
                </a:lnTo>
                <a:close/>
              </a:path>
            </a:pathLst>
          </a:custGeom>
          <a:blipFill>
            <a:blip r:embed="rId2"/>
            <a:stretch>
              <a:fillRect l="0" t="0" r="0" b="0"/>
            </a:stretch>
          </a:blipFill>
        </p:spPr>
      </p:sp>
      <p:sp>
        <p:nvSpPr>
          <p:cNvPr name="TextBox 10" id="10"/>
          <p:cNvSpPr txBox="true"/>
          <p:nvPr/>
        </p:nvSpPr>
        <p:spPr>
          <a:xfrm rot="0">
            <a:off x="1770469" y="355600"/>
            <a:ext cx="12030305" cy="1203325"/>
          </a:xfrm>
          <a:prstGeom prst="rect">
            <a:avLst/>
          </a:prstGeom>
        </p:spPr>
        <p:txBody>
          <a:bodyPr anchor="t" rtlCol="false" tIns="0" lIns="0" bIns="0" rIns="0">
            <a:spAutoFit/>
          </a:bodyPr>
          <a:lstStyle/>
          <a:p>
            <a:pPr algn="l">
              <a:lnSpc>
                <a:spcPts val="9799"/>
              </a:lnSpc>
            </a:pPr>
            <a:r>
              <a:rPr lang="en-US" sz="6999">
                <a:solidFill>
                  <a:srgbClr val="452829"/>
                </a:solidFill>
                <a:latin typeface="Archivo Black"/>
                <a:ea typeface="Archivo Black"/>
                <a:cs typeface="Archivo Black"/>
                <a:sym typeface="Archivo Black"/>
              </a:rPr>
              <a:t>In-app Calendar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5400000">
            <a:off x="17042429" y="8837718"/>
            <a:ext cx="1649977" cy="841165"/>
            <a:chOff x="0" y="0"/>
            <a:chExt cx="647700" cy="330200"/>
          </a:xfrm>
        </p:grpSpPr>
        <p:sp>
          <p:nvSpPr>
            <p:cNvPr name="Freeform 3" id="3"/>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4" id="4"/>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043238" y="7760723"/>
            <a:ext cx="6086477" cy="60864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585088"/>
            <a:ext cx="6404908" cy="9258300"/>
            <a:chOff x="0" y="0"/>
            <a:chExt cx="992288" cy="1434353"/>
          </a:xfrm>
        </p:grpSpPr>
        <p:sp>
          <p:nvSpPr>
            <p:cNvPr name="Freeform 9" id="9"/>
            <p:cNvSpPr/>
            <p:nvPr/>
          </p:nvSpPr>
          <p:spPr>
            <a:xfrm flipH="false" flipV="false" rot="0">
              <a:off x="0" y="0"/>
              <a:ext cx="992288" cy="1434353"/>
            </a:xfrm>
            <a:custGeom>
              <a:avLst/>
              <a:gdLst/>
              <a:ahLst/>
              <a:cxnLst/>
              <a:rect r="r" b="b" t="t" l="l"/>
              <a:pathLst>
                <a:path h="1434353" w="992288">
                  <a:moveTo>
                    <a:pt x="0" y="0"/>
                  </a:moveTo>
                  <a:lnTo>
                    <a:pt x="992288" y="0"/>
                  </a:lnTo>
                  <a:lnTo>
                    <a:pt x="992288" y="1434353"/>
                  </a:lnTo>
                  <a:lnTo>
                    <a:pt x="0" y="1434353"/>
                  </a:lnTo>
                  <a:close/>
                </a:path>
              </a:pathLst>
            </a:custGeom>
            <a:blipFill>
              <a:blip r:embed="rId2"/>
              <a:stretch>
                <a:fillRect l="0" t="0" r="0" b="-52253"/>
              </a:stretch>
            </a:blipFill>
          </p:spPr>
        </p:sp>
      </p:grpSp>
      <p:grpSp>
        <p:nvGrpSpPr>
          <p:cNvPr name="Group 10" id="10"/>
          <p:cNvGrpSpPr/>
          <p:nvPr/>
        </p:nvGrpSpPr>
        <p:grpSpPr>
          <a:xfrm rot="-10800000">
            <a:off x="-4114800" y="0"/>
            <a:ext cx="6226971" cy="3113486"/>
            <a:chOff x="0" y="0"/>
            <a:chExt cx="660400" cy="330200"/>
          </a:xfrm>
        </p:grpSpPr>
        <p:sp>
          <p:nvSpPr>
            <p:cNvPr name="Freeform 11" id="11"/>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12" id="12"/>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7860923" y="442213"/>
            <a:ext cx="6640995" cy="2441575"/>
          </a:xfrm>
          <a:prstGeom prst="rect">
            <a:avLst/>
          </a:prstGeom>
        </p:spPr>
        <p:txBody>
          <a:bodyPr anchor="t" rtlCol="false" tIns="0" lIns="0" bIns="0" rIns="0">
            <a:spAutoFit/>
          </a:bodyPr>
          <a:lstStyle/>
          <a:p>
            <a:pPr algn="just">
              <a:lnSpc>
                <a:spcPts val="9799"/>
              </a:lnSpc>
            </a:pPr>
            <a:r>
              <a:rPr lang="en-US" sz="6999">
                <a:solidFill>
                  <a:srgbClr val="452829"/>
                </a:solidFill>
                <a:latin typeface="Archivo Black"/>
                <a:ea typeface="Archivo Black"/>
                <a:cs typeface="Archivo Black"/>
                <a:sym typeface="Archivo Black"/>
              </a:rPr>
              <a:t>Community &amp;   Group Chat </a:t>
            </a:r>
          </a:p>
        </p:txBody>
      </p:sp>
      <p:sp>
        <p:nvSpPr>
          <p:cNvPr name="TextBox 14" id="14"/>
          <p:cNvSpPr txBox="true"/>
          <p:nvPr/>
        </p:nvSpPr>
        <p:spPr>
          <a:xfrm rot="0">
            <a:off x="7968184" y="3066046"/>
            <a:ext cx="9291116" cy="1966723"/>
          </a:xfrm>
          <a:prstGeom prst="rect">
            <a:avLst/>
          </a:prstGeom>
        </p:spPr>
        <p:txBody>
          <a:bodyPr anchor="t" rtlCol="false" tIns="0" lIns="0" bIns="0" rIns="0">
            <a:spAutoFit/>
          </a:bodyPr>
          <a:lstStyle/>
          <a:p>
            <a:pPr algn="just">
              <a:lnSpc>
                <a:spcPts val="5393"/>
              </a:lnSpc>
            </a:pPr>
            <a:r>
              <a:rPr lang="en-US" sz="2899" i="true">
                <a:solidFill>
                  <a:srgbClr val="452829"/>
                </a:solidFill>
                <a:latin typeface="Open Sans Italics"/>
                <a:ea typeface="Open Sans Italics"/>
                <a:cs typeface="Open Sans Italics"/>
                <a:sym typeface="Open Sans Italics"/>
              </a:rPr>
              <a:t>In our app, we are open for users to form communities where people can post travel guides, travel tips and travel trends. </a:t>
            </a:r>
          </a:p>
        </p:txBody>
      </p:sp>
      <p:sp>
        <p:nvSpPr>
          <p:cNvPr name="TextBox 15" id="15"/>
          <p:cNvSpPr txBox="true"/>
          <p:nvPr/>
        </p:nvSpPr>
        <p:spPr>
          <a:xfrm rot="0">
            <a:off x="7942784" y="5262752"/>
            <a:ext cx="9316516" cy="3995548"/>
          </a:xfrm>
          <a:prstGeom prst="rect">
            <a:avLst/>
          </a:prstGeom>
        </p:spPr>
        <p:txBody>
          <a:bodyPr anchor="t" rtlCol="false" tIns="0" lIns="0" bIns="0" rIns="0">
            <a:spAutoFit/>
          </a:bodyPr>
          <a:lstStyle/>
          <a:p>
            <a:pPr algn="just">
              <a:lnSpc>
                <a:spcPts val="5393"/>
              </a:lnSpc>
            </a:pPr>
            <a:r>
              <a:rPr lang="en-US" sz="2899" i="true">
                <a:solidFill>
                  <a:srgbClr val="452829"/>
                </a:solidFill>
                <a:latin typeface="Open Sans Italics"/>
                <a:ea typeface="Open Sans Italics"/>
                <a:cs typeface="Open Sans Italics"/>
                <a:sym typeface="Open Sans Italics"/>
              </a:rPr>
              <a:t>Users can also form group chat with family mambers or friends where they can discuss and plan about their travel. Groups that are created can easily add or remove places of interest or plans from their schedules. They can plan together in one seamless environment, with each connected system.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10800000">
            <a:off x="-4114800" y="0"/>
            <a:ext cx="8229600" cy="4114800"/>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17042429" y="9041429"/>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043238" y="7760723"/>
            <a:ext cx="6086477" cy="60864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1581958" y="4171778"/>
            <a:ext cx="5103158" cy="5103158"/>
          </a:xfrm>
          <a:custGeom>
            <a:avLst/>
            <a:gdLst/>
            <a:ahLst/>
            <a:cxnLst/>
            <a:rect r="r" b="b" t="t" l="l"/>
            <a:pathLst>
              <a:path h="5103158" w="5103158">
                <a:moveTo>
                  <a:pt x="0" y="0"/>
                </a:moveTo>
                <a:lnTo>
                  <a:pt x="5103158" y="0"/>
                </a:lnTo>
                <a:lnTo>
                  <a:pt x="5103158" y="5103159"/>
                </a:lnTo>
                <a:lnTo>
                  <a:pt x="0" y="5103159"/>
                </a:lnTo>
                <a:lnTo>
                  <a:pt x="0" y="0"/>
                </a:lnTo>
                <a:close/>
              </a:path>
            </a:pathLst>
          </a:custGeom>
          <a:blipFill>
            <a:blip r:embed="rId2"/>
            <a:stretch>
              <a:fillRect l="0" t="0" r="0" b="0"/>
            </a:stretch>
          </a:blipFill>
        </p:spPr>
      </p:sp>
      <p:sp>
        <p:nvSpPr>
          <p:cNvPr name="Freeform 12" id="12"/>
          <p:cNvSpPr/>
          <p:nvPr/>
        </p:nvSpPr>
        <p:spPr>
          <a:xfrm flipH="false" flipV="false" rot="0">
            <a:off x="10089687" y="1278563"/>
            <a:ext cx="7357148" cy="3678574"/>
          </a:xfrm>
          <a:custGeom>
            <a:avLst/>
            <a:gdLst/>
            <a:ahLst/>
            <a:cxnLst/>
            <a:rect r="r" b="b" t="t" l="l"/>
            <a:pathLst>
              <a:path h="3678574" w="7357148">
                <a:moveTo>
                  <a:pt x="0" y="0"/>
                </a:moveTo>
                <a:lnTo>
                  <a:pt x="7357148" y="0"/>
                </a:lnTo>
                <a:lnTo>
                  <a:pt x="7357148" y="3678574"/>
                </a:lnTo>
                <a:lnTo>
                  <a:pt x="0" y="3678574"/>
                </a:lnTo>
                <a:lnTo>
                  <a:pt x="0" y="0"/>
                </a:lnTo>
                <a:close/>
              </a:path>
            </a:pathLst>
          </a:custGeom>
          <a:blipFill>
            <a:blip r:embed="rId3"/>
            <a:stretch>
              <a:fillRect l="0" t="0" r="0" b="0"/>
            </a:stretch>
          </a:blipFill>
        </p:spPr>
      </p:sp>
      <p:sp>
        <p:nvSpPr>
          <p:cNvPr name="TextBox 13" id="13"/>
          <p:cNvSpPr txBox="true"/>
          <p:nvPr/>
        </p:nvSpPr>
        <p:spPr>
          <a:xfrm rot="0">
            <a:off x="558520" y="1914525"/>
            <a:ext cx="11023439" cy="1203325"/>
          </a:xfrm>
          <a:prstGeom prst="rect">
            <a:avLst/>
          </a:prstGeom>
        </p:spPr>
        <p:txBody>
          <a:bodyPr anchor="t" rtlCol="false" tIns="0" lIns="0" bIns="0" rIns="0">
            <a:spAutoFit/>
          </a:bodyPr>
          <a:lstStyle/>
          <a:p>
            <a:pPr algn="ctr">
              <a:lnSpc>
                <a:spcPts val="9799"/>
              </a:lnSpc>
            </a:pPr>
            <a:r>
              <a:rPr lang="en-US" sz="6999">
                <a:solidFill>
                  <a:srgbClr val="452829"/>
                </a:solidFill>
                <a:latin typeface="Archivo Black"/>
                <a:ea typeface="Archivo Black"/>
                <a:cs typeface="Archivo Black"/>
                <a:sym typeface="Archivo Black"/>
              </a:rPr>
              <a:t>Resources</a:t>
            </a:r>
          </a:p>
        </p:txBody>
      </p:sp>
      <p:sp>
        <p:nvSpPr>
          <p:cNvPr name="TextBox 14" id="14"/>
          <p:cNvSpPr txBox="true"/>
          <p:nvPr/>
        </p:nvSpPr>
        <p:spPr>
          <a:xfrm rot="0">
            <a:off x="1992644" y="3357500"/>
            <a:ext cx="8165586" cy="4555617"/>
          </a:xfrm>
          <a:prstGeom prst="rect">
            <a:avLst/>
          </a:prstGeom>
        </p:spPr>
        <p:txBody>
          <a:bodyPr anchor="t" rtlCol="false" tIns="0" lIns="0" bIns="0" rIns="0">
            <a:spAutoFit/>
          </a:bodyPr>
          <a:lstStyle/>
          <a:p>
            <a:pPr algn="l">
              <a:lnSpc>
                <a:spcPts val="6144"/>
              </a:lnSpc>
            </a:pPr>
            <a:r>
              <a:rPr lang="en-US" sz="3200">
                <a:solidFill>
                  <a:srgbClr val="452829"/>
                </a:solidFill>
                <a:latin typeface="Open Sans"/>
                <a:ea typeface="Open Sans"/>
                <a:cs typeface="Open Sans"/>
                <a:sym typeface="Open Sans"/>
              </a:rPr>
              <a:t>We are using android studio developed by IntelliJ and Kotlin language to develop this app for android mobile devices to ensure high performance, modern syntax, and seamless integration with Android's UI components and mapping SDKs.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9CFC7"/>
        </a:solidFill>
      </p:bgPr>
    </p:bg>
    <p:spTree>
      <p:nvGrpSpPr>
        <p:cNvPr id="1" name=""/>
        <p:cNvGrpSpPr/>
        <p:nvPr/>
      </p:nvGrpSpPr>
      <p:grpSpPr>
        <a:xfrm>
          <a:off x="0" y="0"/>
          <a:ext cx="0" cy="0"/>
          <a:chOff x="0" y="0"/>
          <a:chExt cx="0" cy="0"/>
        </a:xfrm>
      </p:grpSpPr>
      <p:grpSp>
        <p:nvGrpSpPr>
          <p:cNvPr name="Group 2" id="2"/>
          <p:cNvGrpSpPr/>
          <p:nvPr/>
        </p:nvGrpSpPr>
        <p:grpSpPr>
          <a:xfrm rot="-10800000">
            <a:off x="-4114800" y="0"/>
            <a:ext cx="8229600" cy="4114800"/>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5400000">
            <a:off x="17042429" y="9041429"/>
            <a:ext cx="1649977" cy="841165"/>
            <a:chOff x="0" y="0"/>
            <a:chExt cx="647700" cy="330200"/>
          </a:xfrm>
        </p:grpSpPr>
        <p:sp>
          <p:nvSpPr>
            <p:cNvPr name="Freeform 6" id="6"/>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7" id="7"/>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043238" y="7760723"/>
            <a:ext cx="6086477" cy="60864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4114800" y="1537829"/>
            <a:ext cx="2441926" cy="2441926"/>
          </a:xfrm>
          <a:custGeom>
            <a:avLst/>
            <a:gdLst/>
            <a:ahLst/>
            <a:cxnLst/>
            <a:rect r="r" b="b" t="t" l="l"/>
            <a:pathLst>
              <a:path h="2441926" w="2441926">
                <a:moveTo>
                  <a:pt x="0" y="0"/>
                </a:moveTo>
                <a:lnTo>
                  <a:pt x="2441926" y="0"/>
                </a:lnTo>
                <a:lnTo>
                  <a:pt x="2441926" y="2441927"/>
                </a:lnTo>
                <a:lnTo>
                  <a:pt x="0" y="2441927"/>
                </a:lnTo>
                <a:lnTo>
                  <a:pt x="0" y="0"/>
                </a:lnTo>
                <a:close/>
              </a:path>
            </a:pathLst>
          </a:custGeom>
          <a:blipFill>
            <a:blip r:embed="rId2"/>
            <a:stretch>
              <a:fillRect l="0" t="0" r="0" b="0"/>
            </a:stretch>
          </a:blipFill>
        </p:spPr>
      </p:sp>
      <p:sp>
        <p:nvSpPr>
          <p:cNvPr name="Freeform 12" id="12"/>
          <p:cNvSpPr/>
          <p:nvPr/>
        </p:nvSpPr>
        <p:spPr>
          <a:xfrm flipH="false" flipV="false" rot="0">
            <a:off x="8891884" y="1537829"/>
            <a:ext cx="2855697" cy="2855697"/>
          </a:xfrm>
          <a:custGeom>
            <a:avLst/>
            <a:gdLst/>
            <a:ahLst/>
            <a:cxnLst/>
            <a:rect r="r" b="b" t="t" l="l"/>
            <a:pathLst>
              <a:path h="2855697" w="2855697">
                <a:moveTo>
                  <a:pt x="0" y="0"/>
                </a:moveTo>
                <a:lnTo>
                  <a:pt x="2855697" y="0"/>
                </a:lnTo>
                <a:lnTo>
                  <a:pt x="2855697" y="2855697"/>
                </a:lnTo>
                <a:lnTo>
                  <a:pt x="0" y="2855697"/>
                </a:lnTo>
                <a:lnTo>
                  <a:pt x="0" y="0"/>
                </a:lnTo>
                <a:close/>
              </a:path>
            </a:pathLst>
          </a:custGeom>
          <a:blipFill>
            <a:blip r:embed="rId3"/>
            <a:stretch>
              <a:fillRect l="0" t="0" r="0" b="0"/>
            </a:stretch>
          </a:blipFill>
        </p:spPr>
      </p:sp>
      <p:sp>
        <p:nvSpPr>
          <p:cNvPr name="Freeform 13" id="13"/>
          <p:cNvSpPr/>
          <p:nvPr/>
        </p:nvSpPr>
        <p:spPr>
          <a:xfrm flipH="false" flipV="false" rot="0">
            <a:off x="14506364" y="1537829"/>
            <a:ext cx="2940471" cy="2940471"/>
          </a:xfrm>
          <a:custGeom>
            <a:avLst/>
            <a:gdLst/>
            <a:ahLst/>
            <a:cxnLst/>
            <a:rect r="r" b="b" t="t" l="l"/>
            <a:pathLst>
              <a:path h="2940471" w="2940471">
                <a:moveTo>
                  <a:pt x="0" y="0"/>
                </a:moveTo>
                <a:lnTo>
                  <a:pt x="2940471" y="0"/>
                </a:lnTo>
                <a:lnTo>
                  <a:pt x="2940471" y="2940472"/>
                </a:lnTo>
                <a:lnTo>
                  <a:pt x="0" y="2940472"/>
                </a:lnTo>
                <a:lnTo>
                  <a:pt x="0" y="0"/>
                </a:lnTo>
                <a:close/>
              </a:path>
            </a:pathLst>
          </a:custGeom>
          <a:blipFill>
            <a:blip r:embed="rId4"/>
            <a:stretch>
              <a:fillRect l="0" t="0" r="0" b="0"/>
            </a:stretch>
          </a:blipFill>
        </p:spPr>
      </p:sp>
      <p:sp>
        <p:nvSpPr>
          <p:cNvPr name="TextBox 14" id="14"/>
          <p:cNvSpPr txBox="true"/>
          <p:nvPr/>
        </p:nvSpPr>
        <p:spPr>
          <a:xfrm rot="0">
            <a:off x="6235861" y="-17493"/>
            <a:ext cx="11023439" cy="1203325"/>
          </a:xfrm>
          <a:prstGeom prst="rect">
            <a:avLst/>
          </a:prstGeom>
        </p:spPr>
        <p:txBody>
          <a:bodyPr anchor="t" rtlCol="false" tIns="0" lIns="0" bIns="0" rIns="0">
            <a:spAutoFit/>
          </a:bodyPr>
          <a:lstStyle/>
          <a:p>
            <a:pPr algn="r">
              <a:lnSpc>
                <a:spcPts val="9799"/>
              </a:lnSpc>
            </a:pPr>
            <a:r>
              <a:rPr lang="en-US" sz="6999">
                <a:solidFill>
                  <a:srgbClr val="452829"/>
                </a:solidFill>
                <a:latin typeface="Archivo Black"/>
                <a:ea typeface="Archivo Black"/>
                <a:cs typeface="Archivo Black"/>
                <a:sym typeface="Archivo Black"/>
              </a:rPr>
              <a:t>Resources</a:t>
            </a:r>
          </a:p>
        </p:txBody>
      </p:sp>
      <p:sp>
        <p:nvSpPr>
          <p:cNvPr name="TextBox 15" id="15"/>
          <p:cNvSpPr txBox="true"/>
          <p:nvPr/>
        </p:nvSpPr>
        <p:spPr>
          <a:xfrm rot="0">
            <a:off x="1228861" y="3823370"/>
            <a:ext cx="5749869" cy="1606698"/>
          </a:xfrm>
          <a:prstGeom prst="rect">
            <a:avLst/>
          </a:prstGeom>
        </p:spPr>
        <p:txBody>
          <a:bodyPr anchor="t" rtlCol="false" tIns="0" lIns="0" bIns="0" rIns="0">
            <a:spAutoFit/>
          </a:bodyPr>
          <a:lstStyle/>
          <a:p>
            <a:pPr algn="just">
              <a:lnSpc>
                <a:spcPts val="6111"/>
              </a:lnSpc>
            </a:pPr>
            <a:r>
              <a:rPr lang="en-US" sz="6111">
                <a:solidFill>
                  <a:srgbClr val="452829"/>
                </a:solidFill>
                <a:latin typeface="Archivo Black"/>
                <a:ea typeface="Archivo Black"/>
                <a:cs typeface="Archivo Black"/>
                <a:sym typeface="Archivo Black"/>
              </a:rPr>
              <a:t>Mapbox Maps SDK</a:t>
            </a:r>
          </a:p>
        </p:txBody>
      </p:sp>
      <p:sp>
        <p:nvSpPr>
          <p:cNvPr name="TextBox 16" id="16"/>
          <p:cNvSpPr txBox="true"/>
          <p:nvPr/>
        </p:nvSpPr>
        <p:spPr>
          <a:xfrm rot="0">
            <a:off x="6834085" y="3823370"/>
            <a:ext cx="5749869" cy="1606698"/>
          </a:xfrm>
          <a:prstGeom prst="rect">
            <a:avLst/>
          </a:prstGeom>
        </p:spPr>
        <p:txBody>
          <a:bodyPr anchor="t" rtlCol="false" tIns="0" lIns="0" bIns="0" rIns="0">
            <a:spAutoFit/>
          </a:bodyPr>
          <a:lstStyle/>
          <a:p>
            <a:pPr algn="just">
              <a:lnSpc>
                <a:spcPts val="6111"/>
              </a:lnSpc>
            </a:pPr>
            <a:r>
              <a:rPr lang="en-US" sz="6111">
                <a:solidFill>
                  <a:srgbClr val="452829"/>
                </a:solidFill>
                <a:latin typeface="Archivo Black"/>
                <a:ea typeface="Archivo Black"/>
                <a:cs typeface="Archivo Black"/>
                <a:sym typeface="Archivo Black"/>
              </a:rPr>
              <a:t>Google Places API</a:t>
            </a:r>
          </a:p>
        </p:txBody>
      </p:sp>
      <p:sp>
        <p:nvSpPr>
          <p:cNvPr name="TextBox 17" id="17"/>
          <p:cNvSpPr txBox="true"/>
          <p:nvPr/>
        </p:nvSpPr>
        <p:spPr>
          <a:xfrm rot="0">
            <a:off x="1228861" y="5312798"/>
            <a:ext cx="4619830" cy="3324225"/>
          </a:xfrm>
          <a:prstGeom prst="rect">
            <a:avLst/>
          </a:prstGeom>
        </p:spPr>
        <p:txBody>
          <a:bodyPr anchor="t" rtlCol="false" tIns="0" lIns="0" bIns="0" rIns="0">
            <a:spAutoFit/>
          </a:bodyPr>
          <a:lstStyle/>
          <a:p>
            <a:pPr algn="l">
              <a:lnSpc>
                <a:spcPts val="2999"/>
              </a:lnSpc>
            </a:pPr>
            <a:r>
              <a:rPr lang="en-US" sz="1999">
                <a:solidFill>
                  <a:srgbClr val="452829"/>
                </a:solidFill>
                <a:latin typeface="Open Sans"/>
                <a:ea typeface="Open Sans"/>
                <a:cs typeface="Open Sans"/>
                <a:sym typeface="Open Sans"/>
              </a:rPr>
              <a:t>Pros: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High customization for map styles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High-performance vector rendering</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Features offline support</a:t>
            </a:r>
          </a:p>
          <a:p>
            <a:pPr algn="l">
              <a:lnSpc>
                <a:spcPts val="2999"/>
              </a:lnSpc>
            </a:pPr>
            <a:r>
              <a:rPr lang="en-US" sz="1999">
                <a:solidFill>
                  <a:srgbClr val="452829"/>
                </a:solidFill>
                <a:latin typeface="Open Sans"/>
                <a:ea typeface="Open Sans"/>
                <a:cs typeface="Open Sans"/>
                <a:sym typeface="Open Sans"/>
              </a:rPr>
              <a:t>Cons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Commercial platform with a usage-based billing tier</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More initial configuration required</a:t>
            </a:r>
          </a:p>
        </p:txBody>
      </p:sp>
      <p:sp>
        <p:nvSpPr>
          <p:cNvPr name="TextBox 18" id="18"/>
          <p:cNvSpPr txBox="true"/>
          <p:nvPr/>
        </p:nvSpPr>
        <p:spPr>
          <a:xfrm rot="0">
            <a:off x="6834085" y="5372918"/>
            <a:ext cx="4619830" cy="3695700"/>
          </a:xfrm>
          <a:prstGeom prst="rect">
            <a:avLst/>
          </a:prstGeom>
        </p:spPr>
        <p:txBody>
          <a:bodyPr anchor="t" rtlCol="false" tIns="0" lIns="0" bIns="0" rIns="0">
            <a:spAutoFit/>
          </a:bodyPr>
          <a:lstStyle/>
          <a:p>
            <a:pPr algn="l">
              <a:lnSpc>
                <a:spcPts val="2999"/>
              </a:lnSpc>
            </a:pPr>
            <a:r>
              <a:rPr lang="en-US" sz="1999">
                <a:solidFill>
                  <a:srgbClr val="452829"/>
                </a:solidFill>
                <a:latin typeface="Open Sans"/>
                <a:ea typeface="Open Sans"/>
                <a:cs typeface="Open Sans"/>
                <a:sym typeface="Open Sans"/>
              </a:rPr>
              <a:t>Pros: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Allows us to gather data such as photos and reviews about </a:t>
            </a:r>
            <a:r>
              <a:rPr lang="en-US" sz="1999">
                <a:solidFill>
                  <a:srgbClr val="452829"/>
                </a:solidFill>
                <a:latin typeface="Open Sans"/>
                <a:ea typeface="Open Sans"/>
                <a:cs typeface="Open Sans"/>
                <a:sym typeface="Open Sans"/>
              </a:rPr>
              <a:t>physical locations, businesses, landmarks, and points of interest (POIs) globally.</a:t>
            </a:r>
          </a:p>
          <a:p>
            <a:pPr algn="l">
              <a:lnSpc>
                <a:spcPts val="2999"/>
              </a:lnSpc>
            </a:pPr>
            <a:r>
              <a:rPr lang="en-US" sz="1999">
                <a:solidFill>
                  <a:srgbClr val="452829"/>
                </a:solidFill>
                <a:latin typeface="Open Sans"/>
                <a:ea typeface="Open Sans"/>
                <a:cs typeface="Open Sans"/>
                <a:sym typeface="Open Sans"/>
              </a:rPr>
              <a:t>Cons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Using Googles Pay-as-you-go policy, we a</a:t>
            </a:r>
            <a:r>
              <a:rPr lang="en-US" sz="1999">
                <a:solidFill>
                  <a:srgbClr val="452829"/>
                </a:solidFill>
                <a:latin typeface="Open Sans"/>
                <a:ea typeface="Open Sans"/>
                <a:cs typeface="Open Sans"/>
                <a:sym typeface="Open Sans"/>
              </a:rPr>
              <a:t>re only allowed limited request per month.</a:t>
            </a:r>
          </a:p>
        </p:txBody>
      </p:sp>
      <p:sp>
        <p:nvSpPr>
          <p:cNvPr name="TextBox 19" id="19"/>
          <p:cNvSpPr txBox="true"/>
          <p:nvPr/>
        </p:nvSpPr>
        <p:spPr>
          <a:xfrm rot="0">
            <a:off x="12583953" y="3823370"/>
            <a:ext cx="5749869" cy="1606698"/>
          </a:xfrm>
          <a:prstGeom prst="rect">
            <a:avLst/>
          </a:prstGeom>
        </p:spPr>
        <p:txBody>
          <a:bodyPr anchor="t" rtlCol="false" tIns="0" lIns="0" bIns="0" rIns="0">
            <a:spAutoFit/>
          </a:bodyPr>
          <a:lstStyle/>
          <a:p>
            <a:pPr algn="just">
              <a:lnSpc>
                <a:spcPts val="6111"/>
              </a:lnSpc>
            </a:pPr>
            <a:r>
              <a:rPr lang="en-US" sz="6111">
                <a:solidFill>
                  <a:srgbClr val="452829"/>
                </a:solidFill>
                <a:latin typeface="Archivo Black"/>
                <a:ea typeface="Archivo Black"/>
                <a:cs typeface="Archivo Black"/>
                <a:sym typeface="Archivo Black"/>
              </a:rPr>
              <a:t>Google Gemini API</a:t>
            </a:r>
          </a:p>
        </p:txBody>
      </p:sp>
      <p:sp>
        <p:nvSpPr>
          <p:cNvPr name="TextBox 20" id="20"/>
          <p:cNvSpPr txBox="true"/>
          <p:nvPr/>
        </p:nvSpPr>
        <p:spPr>
          <a:xfrm rot="0">
            <a:off x="12583953" y="5372918"/>
            <a:ext cx="4619830" cy="2952750"/>
          </a:xfrm>
          <a:prstGeom prst="rect">
            <a:avLst/>
          </a:prstGeom>
        </p:spPr>
        <p:txBody>
          <a:bodyPr anchor="t" rtlCol="false" tIns="0" lIns="0" bIns="0" rIns="0">
            <a:spAutoFit/>
          </a:bodyPr>
          <a:lstStyle/>
          <a:p>
            <a:pPr algn="l">
              <a:lnSpc>
                <a:spcPts val="2999"/>
              </a:lnSpc>
            </a:pPr>
            <a:r>
              <a:rPr lang="en-US" sz="1999">
                <a:solidFill>
                  <a:srgbClr val="452829"/>
                </a:solidFill>
                <a:latin typeface="Open Sans"/>
                <a:ea typeface="Open Sans"/>
                <a:cs typeface="Open Sans"/>
                <a:sym typeface="Open Sans"/>
              </a:rPr>
              <a:t>Pros: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Allows us to use Google Gemini AI a</a:t>
            </a:r>
            <a:r>
              <a:rPr lang="en-US" sz="1999">
                <a:solidFill>
                  <a:srgbClr val="452829"/>
                </a:solidFill>
                <a:latin typeface="Open Sans"/>
                <a:ea typeface="Open Sans"/>
                <a:cs typeface="Open Sans"/>
                <a:sym typeface="Open Sans"/>
              </a:rPr>
              <a:t>s a source of AI interactions.</a:t>
            </a:r>
          </a:p>
          <a:p>
            <a:pPr algn="l">
              <a:lnSpc>
                <a:spcPts val="2999"/>
              </a:lnSpc>
            </a:pPr>
            <a:r>
              <a:rPr lang="en-US" sz="1999">
                <a:solidFill>
                  <a:srgbClr val="452829"/>
                </a:solidFill>
                <a:latin typeface="Open Sans"/>
                <a:ea typeface="Open Sans"/>
                <a:cs typeface="Open Sans"/>
                <a:sym typeface="Open Sans"/>
              </a:rPr>
              <a:t>Cons</a:t>
            </a:r>
          </a:p>
          <a:p>
            <a:pPr algn="l" marL="431799" indent="-215899" lvl="1">
              <a:lnSpc>
                <a:spcPts val="2999"/>
              </a:lnSpc>
              <a:buFont typeface="Arial"/>
              <a:buChar char="•"/>
            </a:pPr>
            <a:r>
              <a:rPr lang="en-US" sz="1999">
                <a:solidFill>
                  <a:srgbClr val="452829"/>
                </a:solidFill>
                <a:latin typeface="Open Sans"/>
                <a:ea typeface="Open Sans"/>
                <a:cs typeface="Open Sans"/>
                <a:sym typeface="Open Sans"/>
              </a:rPr>
              <a:t>We are limited to Flash and Flash-Lite models only as a free tier user, s</a:t>
            </a:r>
            <a:r>
              <a:rPr lang="en-US" sz="1999">
                <a:solidFill>
                  <a:srgbClr val="452829"/>
                </a:solidFill>
                <a:latin typeface="Open Sans"/>
                <a:ea typeface="Open Sans"/>
                <a:cs typeface="Open Sans"/>
                <a:sym typeface="Open Sans"/>
              </a:rPr>
              <a:t>o we can only make typically 5–15 Requests per minute</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D9CFC7"/>
        </a:solidFill>
      </p:bgPr>
    </p:bg>
    <p:spTree>
      <p:nvGrpSpPr>
        <p:cNvPr id="1" name=""/>
        <p:cNvGrpSpPr/>
        <p:nvPr/>
      </p:nvGrpSpPr>
      <p:grpSpPr>
        <a:xfrm>
          <a:off x="0" y="0"/>
          <a:ext cx="0" cy="0"/>
          <a:chOff x="0" y="0"/>
          <a:chExt cx="0" cy="0"/>
        </a:xfrm>
      </p:grpSpPr>
      <p:sp>
        <p:nvSpPr>
          <p:cNvPr name="TextBox 2" id="2"/>
          <p:cNvSpPr txBox="true"/>
          <p:nvPr/>
        </p:nvSpPr>
        <p:spPr>
          <a:xfrm rot="0">
            <a:off x="1028700" y="3062719"/>
            <a:ext cx="14996220" cy="1576069"/>
          </a:xfrm>
          <a:prstGeom prst="rect">
            <a:avLst/>
          </a:prstGeom>
        </p:spPr>
        <p:txBody>
          <a:bodyPr anchor="t" rtlCol="false" tIns="0" lIns="0" bIns="0" rIns="0">
            <a:spAutoFit/>
          </a:bodyPr>
          <a:lstStyle/>
          <a:p>
            <a:pPr algn="l">
              <a:lnSpc>
                <a:spcPts val="12880"/>
              </a:lnSpc>
            </a:pPr>
            <a:r>
              <a:rPr lang="en-US" sz="9200">
                <a:solidFill>
                  <a:srgbClr val="452829"/>
                </a:solidFill>
                <a:latin typeface="Archivo Black"/>
                <a:ea typeface="Archivo Black"/>
                <a:cs typeface="Archivo Black"/>
                <a:sym typeface="Archivo Black"/>
              </a:rPr>
              <a:t>Closing Statement</a:t>
            </a:r>
          </a:p>
        </p:txBody>
      </p:sp>
      <p:grpSp>
        <p:nvGrpSpPr>
          <p:cNvPr name="Group 3" id="3"/>
          <p:cNvGrpSpPr/>
          <p:nvPr/>
        </p:nvGrpSpPr>
        <p:grpSpPr>
          <a:xfrm rot="-5400000">
            <a:off x="12115800" y="3086100"/>
            <a:ext cx="8229600" cy="4114800"/>
            <a:chOff x="0" y="0"/>
            <a:chExt cx="660400" cy="330200"/>
          </a:xfrm>
        </p:grpSpPr>
        <p:sp>
          <p:nvSpPr>
            <p:cNvPr name="Freeform 4" id="4"/>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778873"/>
            </a:solidFill>
            <a:ln cap="sq">
              <a:noFill/>
              <a:prstDash val="solid"/>
              <a:miter/>
            </a:ln>
          </p:spPr>
        </p:sp>
        <p:sp>
          <p:nvSpPr>
            <p:cNvPr name="TextBox 5" id="5"/>
            <p:cNvSpPr txBox="true"/>
            <p:nvPr/>
          </p:nvSpPr>
          <p:spPr>
            <a:xfrm>
              <a:off x="127000" y="6350"/>
              <a:ext cx="406400" cy="18415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5400000">
            <a:off x="624294" y="1433106"/>
            <a:ext cx="1649977" cy="841165"/>
            <a:chOff x="0" y="0"/>
            <a:chExt cx="647700" cy="330200"/>
          </a:xfrm>
        </p:grpSpPr>
        <p:sp>
          <p:nvSpPr>
            <p:cNvPr name="Freeform 7" id="7"/>
            <p:cNvSpPr/>
            <p:nvPr/>
          </p:nvSpPr>
          <p:spPr>
            <a:xfrm flipH="false" flipV="false" rot="0">
              <a:off x="0" y="0"/>
              <a:ext cx="647700" cy="330200"/>
            </a:xfrm>
            <a:custGeom>
              <a:avLst/>
              <a:gdLst/>
              <a:ahLst/>
              <a:cxnLst/>
              <a:rect r="r" b="b" t="t" l="l"/>
              <a:pathLst>
                <a:path h="330200" w="647700">
                  <a:moveTo>
                    <a:pt x="647700" y="330200"/>
                  </a:moveTo>
                  <a:cubicBezTo>
                    <a:pt x="647700" y="150345"/>
                    <a:pt x="500247" y="0"/>
                    <a:pt x="323850" y="0"/>
                  </a:cubicBezTo>
                  <a:cubicBezTo>
                    <a:pt x="147453" y="0"/>
                    <a:pt x="0" y="150345"/>
                    <a:pt x="0" y="330200"/>
                  </a:cubicBezTo>
                  <a:lnTo>
                    <a:pt x="647700" y="330200"/>
                  </a:lnTo>
                  <a:close/>
                </a:path>
              </a:pathLst>
            </a:custGeom>
            <a:solidFill>
              <a:srgbClr val="778873"/>
            </a:solidFill>
          </p:spPr>
        </p:sp>
        <p:sp>
          <p:nvSpPr>
            <p:cNvPr name="TextBox 8" id="8"/>
            <p:cNvSpPr txBox="true"/>
            <p:nvPr/>
          </p:nvSpPr>
          <p:spPr>
            <a:xfrm>
              <a:off x="152400" y="12700"/>
              <a:ext cx="342900" cy="317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49330" y="5143500"/>
            <a:ext cx="6086477" cy="608647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8873">
                <a:alpha val="14902"/>
              </a:srgbClr>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28700" y="4715381"/>
            <a:ext cx="9592367" cy="613410"/>
          </a:xfrm>
          <a:prstGeom prst="rect">
            <a:avLst/>
          </a:prstGeom>
        </p:spPr>
        <p:txBody>
          <a:bodyPr anchor="t" rtlCol="false" tIns="0" lIns="0" bIns="0" rIns="0">
            <a:spAutoFit/>
          </a:bodyPr>
          <a:lstStyle/>
          <a:p>
            <a:pPr algn="l">
              <a:lnSpc>
                <a:spcPts val="5040"/>
              </a:lnSpc>
            </a:pPr>
            <a:r>
              <a:rPr lang="en-US" sz="3600" b="true">
                <a:solidFill>
                  <a:srgbClr val="452829"/>
                </a:solidFill>
                <a:latin typeface="Open Sans Bold"/>
                <a:ea typeface="Open Sans Bold"/>
                <a:cs typeface="Open Sans Bold"/>
                <a:sym typeface="Open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DAHVFyXRxtA</dc:identifier>
  <dcterms:modified xsi:type="dcterms:W3CDTF">2011-08-01T06:04:30Z</dcterms:modified>
  <cp:revision>1</cp:revision>
  <dc:title>Copy of Write the challenges and pain points your product or service addresses. Add statistics or anecdotes to support your statement.</dc:title>
</cp:coreProperties>
</file>